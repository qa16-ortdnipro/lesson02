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8"/>
  </p:notesMasterIdLst>
  <p:sldIdLst>
    <p:sldId id="293" r:id="rId2"/>
    <p:sldId id="294" r:id="rId3"/>
    <p:sldId id="258" r:id="rId4"/>
    <p:sldId id="259" r:id="rId5"/>
    <p:sldId id="261" r:id="rId6"/>
    <p:sldId id="323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75" r:id="rId17"/>
    <p:sldId id="276" r:id="rId18"/>
    <p:sldId id="273" r:id="rId19"/>
    <p:sldId id="272" r:id="rId20"/>
    <p:sldId id="295" r:id="rId21"/>
    <p:sldId id="297" r:id="rId22"/>
    <p:sldId id="298" r:id="rId23"/>
    <p:sldId id="306" r:id="rId24"/>
    <p:sldId id="309" r:id="rId25"/>
    <p:sldId id="315" r:id="rId26"/>
    <p:sldId id="316" r:id="rId27"/>
    <p:sldId id="317" r:id="rId28"/>
    <p:sldId id="318" r:id="rId29"/>
    <p:sldId id="320" r:id="rId30"/>
    <p:sldId id="321" r:id="rId31"/>
    <p:sldId id="322" r:id="rId32"/>
    <p:sldId id="282" r:id="rId33"/>
    <p:sldId id="283" r:id="rId34"/>
    <p:sldId id="284" r:id="rId35"/>
    <p:sldId id="286" r:id="rId36"/>
    <p:sldId id="287" r:id="rId37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04249FBA-80A0-4AEF-BC44-CFB583492968}">
          <p14:sldIdLst>
            <p14:sldId id="293"/>
            <p14:sldId id="294"/>
            <p14:sldId id="258"/>
            <p14:sldId id="259"/>
            <p14:sldId id="261"/>
            <p14:sldId id="323"/>
            <p14:sldId id="262"/>
            <p14:sldId id="263"/>
            <p14:sldId id="264"/>
            <p14:sldId id="265"/>
            <p14:sldId id="267"/>
            <p14:sldId id="268"/>
            <p14:sldId id="269"/>
            <p14:sldId id="270"/>
            <p14:sldId id="271"/>
            <p14:sldId id="275"/>
            <p14:sldId id="276"/>
            <p14:sldId id="273"/>
            <p14:sldId id="272"/>
            <p14:sldId id="295"/>
            <p14:sldId id="297"/>
            <p14:sldId id="298"/>
            <p14:sldId id="306"/>
            <p14:sldId id="309"/>
            <p14:sldId id="315"/>
            <p14:sldId id="316"/>
            <p14:sldId id="317"/>
            <p14:sldId id="318"/>
            <p14:sldId id="320"/>
            <p14:sldId id="321"/>
            <p14:sldId id="322"/>
            <p14:sldId id="282"/>
            <p14:sldId id="283"/>
            <p14:sldId id="284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atoliy Kigel" initials="AK" lastIdx="0" clrIdx="0">
    <p:extLst>
      <p:ext uri="{19B8F6BF-5375-455C-9EA6-DF929625EA0E}">
        <p15:presenceInfo xmlns:p15="http://schemas.microsoft.com/office/powerpoint/2012/main" userId="7432c6c4687b0a9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Светлый стиль 1 -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750" autoAdjust="0"/>
    <p:restoredTop sz="94660"/>
  </p:normalViewPr>
  <p:slideViewPr>
    <p:cSldViewPr>
      <p:cViewPr varScale="1">
        <p:scale>
          <a:sx n="109" d="100"/>
          <a:sy n="109" d="100"/>
        </p:scale>
        <p:origin x="396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522811-C5C6-42D2-A409-F8556720C93F}" type="datetimeFigureOut">
              <a:rPr lang="uk-UA" smtClean="0"/>
              <a:pPr/>
              <a:t>20.11.2020</a:t>
            </a:fld>
            <a:endParaRPr lang="uk-UA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668688-711B-4328-ACFB-54B46FA90133}" type="slidenum">
              <a:rPr lang="uk-UA" smtClean="0"/>
              <a:pPr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1373650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uk-UA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668688-711B-4328-ACFB-54B46FA90133}" type="slidenum">
              <a:rPr lang="uk-UA" smtClean="0"/>
              <a:pPr/>
              <a:t>1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209601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uk-UA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C6B0D-6115-4D7C-8040-9C8E2349BB6E}" type="datetime1">
              <a:rPr lang="uk-UA" smtClean="0"/>
              <a:pPr/>
              <a:t>20.11.2020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9AA22-90B4-448C-8B6B-C699140D38B9}" type="slidenum">
              <a:rPr lang="uk-UA" smtClean="0"/>
              <a:pPr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7D9C5-7FF1-434F-B56E-9BAD559744E9}" type="datetime1">
              <a:rPr lang="uk-UA" smtClean="0"/>
              <a:pPr/>
              <a:t>20.11.2020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9AA22-90B4-448C-8B6B-C699140D38B9}" type="slidenum">
              <a:rPr lang="uk-UA" smtClean="0"/>
              <a:pPr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B0FC9-DE63-476B-A1A9-BE934D9049F8}" type="datetime1">
              <a:rPr lang="uk-UA" smtClean="0"/>
              <a:pPr/>
              <a:t>20.11.2020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9AA22-90B4-448C-8B6B-C699140D38B9}" type="slidenum">
              <a:rPr lang="uk-UA" smtClean="0"/>
              <a:pPr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4460F-86E2-4DF6-9D0F-12F5005CF375}" type="datetime1">
              <a:rPr lang="uk-UA" smtClean="0"/>
              <a:pPr/>
              <a:t>20.11.2020</a:t>
            </a:fld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9AA22-90B4-448C-8B6B-C699140D38B9}" type="slidenum">
              <a:rPr lang="uk-UA" smtClean="0"/>
              <a:pPr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1715E-DDCD-4267-B0A5-2918B6F6768A}" type="datetime1">
              <a:rPr lang="uk-UA" smtClean="0"/>
              <a:pPr/>
              <a:t>20.11.2020</a:t>
            </a:fld>
            <a:endParaRPr lang="uk-UA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9AA22-90B4-448C-8B6B-C699140D38B9}" type="slidenum">
              <a:rPr lang="uk-UA" smtClean="0"/>
              <a:pPr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9842C-EB2D-4EBB-A272-2F6A49D9794D}" type="datetime1">
              <a:rPr lang="uk-UA" smtClean="0"/>
              <a:pPr/>
              <a:t>20.11.2020</a:t>
            </a:fld>
            <a:endParaRPr lang="uk-UA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9AA22-90B4-448C-8B6B-C699140D38B9}" type="slidenum">
              <a:rPr lang="uk-UA" smtClean="0"/>
              <a:pPr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6F091-B700-4B52-99AC-85D0FD94D904}" type="datetime1">
              <a:rPr lang="uk-UA" smtClean="0"/>
              <a:pPr/>
              <a:t>20.11.2020</a:t>
            </a:fld>
            <a:endParaRPr lang="uk-UA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9AA22-90B4-448C-8B6B-C699140D38B9}" type="slidenum">
              <a:rPr lang="uk-UA" smtClean="0"/>
              <a:pPr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DFABA-3811-4634-B803-2EAC4CD0063B}" type="datetime1">
              <a:rPr lang="uk-UA" smtClean="0"/>
              <a:pPr/>
              <a:t>20.11.2020</a:t>
            </a:fld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9AA22-90B4-448C-8B6B-C699140D38B9}" type="slidenum">
              <a:rPr lang="uk-UA" smtClean="0"/>
              <a:pPr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EA25E-F88E-463A-A119-D1E55A881002}" type="datetime1">
              <a:rPr lang="uk-UA" smtClean="0"/>
              <a:pPr/>
              <a:t>20.11.2020</a:t>
            </a:fld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9AA22-90B4-448C-8B6B-C699140D38B9}" type="slidenum">
              <a:rPr lang="uk-UA" smtClean="0"/>
              <a:pPr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367BA-0A39-4DE2-BFC3-D5290044365E}" type="datetime1">
              <a:rPr lang="uk-UA" smtClean="0"/>
              <a:pPr/>
              <a:t>20.11.2020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9AA22-90B4-448C-8B6B-C699140D38B9}" type="slidenum">
              <a:rPr lang="uk-UA" smtClean="0"/>
              <a:pPr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6A67F-6C29-47DC-AF8A-FDB3C787DF70}" type="datetime1">
              <a:rPr lang="uk-UA" smtClean="0"/>
              <a:pPr/>
              <a:t>20.11.2020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9AA22-90B4-448C-8B6B-C699140D38B9}" type="slidenum">
              <a:rPr lang="uk-UA" smtClean="0"/>
              <a:pPr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600203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8ED03-0080-49A2-B709-7DA4ACB3A1C3}" type="datetime1">
              <a:rPr lang="uk-UA" smtClean="0"/>
              <a:pPr/>
              <a:t>20.11.2020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9AA22-90B4-448C-8B6B-C699140D38B9}" type="slidenum">
              <a:rPr lang="uk-UA" smtClean="0"/>
              <a:pPr/>
              <a:t>‹#›</a:t>
            </a:fld>
            <a:endParaRPr lang="uk-U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ebref.ru/css/type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webref.ru/css/background-image" TargetMode="External"/><Relationship Id="rId3" Type="http://schemas.openxmlformats.org/officeDocument/2006/relationships/hyperlink" Target="https://webref.ru/css/color" TargetMode="External"/><Relationship Id="rId7" Type="http://schemas.openxmlformats.org/officeDocument/2006/relationships/hyperlink" Target="https://webref.ru/css/value/radial-gradient" TargetMode="External"/><Relationship Id="rId2" Type="http://schemas.openxmlformats.org/officeDocument/2006/relationships/hyperlink" Target="https://webref.ru/css/value/color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ebref.ru/css/value/linear-gradient" TargetMode="External"/><Relationship Id="rId5" Type="http://schemas.openxmlformats.org/officeDocument/2006/relationships/hyperlink" Target="https://webref.ru/css/background-color" TargetMode="External"/><Relationship Id="rId4" Type="http://schemas.openxmlformats.org/officeDocument/2006/relationships/hyperlink" Target="https://webref.ru/css/background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ebref.ru/css/type/text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ebref.ru/css/type/size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ebref.ru/css/type/border" TargetMode="External"/><Relationship Id="rId5" Type="http://schemas.openxmlformats.org/officeDocument/2006/relationships/hyperlink" Target="https://webref.ru/css/type/padding" TargetMode="External"/><Relationship Id="rId4" Type="http://schemas.openxmlformats.org/officeDocument/2006/relationships/hyperlink" Target="https://webref.ru/css/type/margin" TargetMode="Externa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ebref.ru/css/border-radius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ebref.ru/css/box-shadow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jigsaw.w3.org/css-validator/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ebref.ru/recipe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www.youtube.com/watch?v=LDJMfzTlkSI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0" y="643335"/>
            <a:ext cx="12192000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 smtClean="0">
                <a:solidFill>
                  <a:schemeClr val="bg1"/>
                </a:solidFill>
                <a:latin typeface="+mj-lt"/>
              </a:rPr>
              <a:t>Web Basis</a:t>
            </a:r>
            <a:r>
              <a:rPr lang="ru-RU" sz="4400" b="1" dirty="0" smtClean="0">
                <a:solidFill>
                  <a:schemeClr val="bg1"/>
                </a:solidFill>
                <a:latin typeface="+mj-lt"/>
              </a:rPr>
              <a:t>: </a:t>
            </a:r>
            <a:r>
              <a:rPr lang="ru-RU" sz="4400" b="1" dirty="0" smtClean="0">
                <a:solidFill>
                  <a:srgbClr val="FFFF00"/>
                </a:solidFill>
                <a:latin typeface="+mj-lt"/>
              </a:rPr>
              <a:t>Оформление</a:t>
            </a:r>
            <a:endParaRPr lang="uk-UA" sz="4400" b="1" dirty="0">
              <a:solidFill>
                <a:srgbClr val="FFFF00"/>
              </a:solidFill>
              <a:latin typeface="+mj-lt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-1" y="5684704"/>
            <a:ext cx="12192001" cy="584775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uk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/>
            <a:r>
              <a:rPr lang="en-US" sz="3200" b="1" dirty="0" smtClean="0">
                <a:solidFill>
                  <a:schemeClr val="bg1"/>
                </a:solidFill>
                <a:cs typeface="Segoe UI Semibold" panose="020B0702040204020203" pitchFamily="34" charset="0"/>
              </a:rPr>
              <a:t>ORT</a:t>
            </a:r>
            <a:r>
              <a:rPr lang="en-US" sz="3200" b="1" dirty="0" smtClean="0">
                <a:solidFill>
                  <a:srgbClr val="15DFED"/>
                </a:solidFill>
                <a:cs typeface="Segoe UI Semibold" panose="020B0702040204020203" pitchFamily="34" charset="0"/>
              </a:rPr>
              <a:t>DNIPRO</a:t>
            </a:r>
            <a:r>
              <a:rPr lang="en-US" sz="3200" b="1" dirty="0" smtClean="0">
                <a:solidFill>
                  <a:schemeClr val="bg1"/>
                </a:solidFill>
                <a:cs typeface="Segoe UI Semibold" panose="020B0702040204020203" pitchFamily="34" charset="0"/>
              </a:rPr>
              <a:t>.ORG</a:t>
            </a:r>
            <a:r>
              <a:rPr lang="en-US" sz="3200" b="1" dirty="0" smtClean="0">
                <a:solidFill>
                  <a:srgbClr val="17DDEC"/>
                </a:solidFill>
                <a:cs typeface="Segoe UI Semibold" panose="020B0702040204020203" pitchFamily="34" charset="0"/>
              </a:rPr>
              <a:t>/QA</a:t>
            </a:r>
            <a:endParaRPr lang="en-US" sz="3600" b="1" dirty="0">
              <a:solidFill>
                <a:srgbClr val="17DDEC"/>
              </a:solidFill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4254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1" y="5157192"/>
            <a:ext cx="12191999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6000" b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qa16</a:t>
            </a:r>
            <a:r>
              <a:rPr lang="en-US" sz="6000" b="1" dirty="0" smtClean="0">
                <a:solidFill>
                  <a:srgbClr val="002060"/>
                </a:solidFill>
                <a:latin typeface="+mj-lt"/>
              </a:rPr>
              <a:t>.</a:t>
            </a:r>
            <a:r>
              <a:rPr lang="en-US" sz="6000" b="1" dirty="0" smtClean="0">
                <a:solidFill>
                  <a:srgbClr val="00B050"/>
                </a:solidFill>
                <a:latin typeface="+mj-lt"/>
              </a:rPr>
              <a:t>ortdnipro</a:t>
            </a:r>
            <a:r>
              <a:rPr lang="en-US" sz="6000" b="1" dirty="0" smtClean="0">
                <a:solidFill>
                  <a:srgbClr val="002060"/>
                </a:solidFill>
                <a:latin typeface="+mj-lt"/>
              </a:rPr>
              <a:t>.</a:t>
            </a:r>
            <a:r>
              <a:rPr lang="en-US" sz="6000" b="1" dirty="0" smtClean="0">
                <a:solidFill>
                  <a:srgbClr val="0070C0"/>
                </a:solidFill>
                <a:latin typeface="+mj-lt"/>
              </a:rPr>
              <a:t>org</a:t>
            </a:r>
            <a:endParaRPr lang="uk-UA" sz="5400" b="1" dirty="0">
              <a:solidFill>
                <a:srgbClr val="0070C0"/>
              </a:solidFill>
              <a:latin typeface="+mj-lt"/>
            </a:endParaRPr>
          </a:p>
        </p:txBody>
      </p:sp>
      <p:sp>
        <p:nvSpPr>
          <p:cNvPr id="6" name="Номер слайда 36"/>
          <p:cNvSpPr>
            <a:spLocks noGrp="1"/>
          </p:cNvSpPr>
          <p:nvPr>
            <p:ph type="sldNum" sz="quarter" idx="12"/>
          </p:nvPr>
        </p:nvSpPr>
        <p:spPr>
          <a:xfrm>
            <a:off x="11136560" y="6165304"/>
            <a:ext cx="648072" cy="432048"/>
          </a:xfrm>
          <a:prstGeom prst="roundRect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pPr algn="ctr"/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/>
              <a:t>2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0" y="1601505"/>
            <a:ext cx="12192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600" b="1" dirty="0">
                <a:solidFill>
                  <a:srgbClr val="0070C0"/>
                </a:solidFill>
              </a:rPr>
              <a:t>Наша группа</a:t>
            </a:r>
            <a:r>
              <a:rPr lang="en-US" sz="6600" b="1" dirty="0">
                <a:solidFill>
                  <a:srgbClr val="0070C0"/>
                </a:solidFill>
              </a:rPr>
              <a:t>:</a:t>
            </a:r>
            <a:r>
              <a:rPr lang="ru-RU" sz="6600" b="1" dirty="0">
                <a:solidFill>
                  <a:srgbClr val="0070C0"/>
                </a:solidFill>
              </a:rPr>
              <a:t> </a:t>
            </a:r>
            <a:r>
              <a:rPr lang="en-US" sz="8000" b="1" dirty="0" smtClean="0">
                <a:solidFill>
                  <a:srgbClr val="C00000"/>
                </a:solidFill>
              </a:rPr>
              <a:t>QA16</a:t>
            </a:r>
            <a:endParaRPr lang="ru-RU" sz="6600" b="1" dirty="0">
              <a:solidFill>
                <a:srgbClr val="C00000"/>
              </a:solidFill>
            </a:endParaRPr>
          </a:p>
        </p:txBody>
      </p:sp>
      <p:grpSp>
        <p:nvGrpSpPr>
          <p:cNvPr id="4" name="Группа 3"/>
          <p:cNvGrpSpPr/>
          <p:nvPr/>
        </p:nvGrpSpPr>
        <p:grpSpPr>
          <a:xfrm>
            <a:off x="4511824" y="3501008"/>
            <a:ext cx="2997146" cy="1152128"/>
            <a:chOff x="5516438" y="3825044"/>
            <a:chExt cx="2997146" cy="1152128"/>
          </a:xfrm>
        </p:grpSpPr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16438" y="3825044"/>
              <a:ext cx="1152128" cy="115212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026" name="Picture 2" descr="https://image.flaticon.com/icons/png/512/25/25437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42755" y="3865693"/>
              <a:ext cx="1070829" cy="10708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Заголовок 1"/>
          <p:cNvSpPr txBox="1">
            <a:spLocks/>
          </p:cNvSpPr>
          <p:nvPr/>
        </p:nvSpPr>
        <p:spPr>
          <a:xfrm>
            <a:off x="2206302" y="189261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ru-RU" sz="4000" b="1" dirty="0" smtClean="0"/>
              <a:t>Где взять материалы</a:t>
            </a:r>
            <a:r>
              <a:rPr lang="en-US" sz="4000" b="1" dirty="0" smtClean="0"/>
              <a:t>?</a:t>
            </a:r>
            <a:endParaRPr lang="ru-RU" sz="4000" b="1" dirty="0"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4869229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6600" b="1" dirty="0" smtClean="0"/>
              <a:t>…у </a:t>
            </a:r>
            <a:r>
              <a:rPr lang="en-US" sz="6600" b="1" dirty="0"/>
              <a:t>HTML </a:t>
            </a:r>
            <a:r>
              <a:rPr lang="ru-RU" sz="6600" b="1" dirty="0"/>
              <a:t>есть проблемы</a:t>
            </a:r>
            <a:endParaRPr lang="uk-UA" sz="6600" b="1" dirty="0"/>
          </a:p>
        </p:txBody>
      </p:sp>
    </p:spTree>
    <p:extLst>
      <p:ext uri="{BB962C8B-B14F-4D97-AF65-F5344CB8AC3E}">
        <p14:creationId xmlns:p14="http://schemas.microsoft.com/office/powerpoint/2010/main" val="157215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67508" y="1196752"/>
            <a:ext cx="8856983" cy="4107150"/>
          </a:xfrm>
          <a:prstGeom prst="rect">
            <a:avLst/>
          </a:prstGeom>
          <a:ln w="19050"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Номер слайда 36"/>
          <p:cNvSpPr txBox="1">
            <a:spLocks/>
          </p:cNvSpPr>
          <p:nvPr/>
        </p:nvSpPr>
        <p:spPr>
          <a:xfrm>
            <a:off x="11208568" y="6237312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/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4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125452" y="5622339"/>
            <a:ext cx="84249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solidFill>
                  <a:schemeClr val="accent6">
                    <a:lumMod val="75000"/>
                  </a:schemeClr>
                </a:solidFill>
              </a:rPr>
              <a:t>Есть проблемы:</a:t>
            </a:r>
            <a:r>
              <a:rPr lang="ru-RU" sz="2400" b="1" dirty="0"/>
              <a:t> </a:t>
            </a:r>
            <a:r>
              <a:rPr lang="ru-RU" sz="2400" b="1" dirty="0" smtClean="0"/>
              <a:t>«</a:t>
            </a:r>
            <a:r>
              <a:rPr lang="ru-RU" sz="2400" dirty="0" smtClean="0"/>
              <a:t>захламление» </a:t>
            </a:r>
            <a:r>
              <a:rPr lang="en-US" sz="2400" b="1" dirty="0"/>
              <a:t>HTML</a:t>
            </a:r>
            <a:r>
              <a:rPr lang="ru-RU" sz="2400" b="1" dirty="0" smtClean="0"/>
              <a:t>-разметки</a:t>
            </a:r>
            <a:r>
              <a:rPr lang="ru-RU" sz="2400" dirty="0" smtClean="0"/>
              <a:t>, дублирование кода, сложности</a:t>
            </a:r>
            <a:r>
              <a:rPr lang="uk-UA" sz="2400" dirty="0" smtClean="0"/>
              <a:t> при</a:t>
            </a:r>
            <a:r>
              <a:rPr lang="ru-RU" sz="2400" dirty="0" smtClean="0"/>
              <a:t> внесении изменений…</a:t>
            </a:r>
            <a:endParaRPr lang="ru-RU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0" y="26064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HTML </a:t>
            </a:r>
            <a:r>
              <a:rPr lang="ru-RU" sz="4000" b="1" dirty="0"/>
              <a:t>и оформление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369205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-24680" y="0"/>
            <a:ext cx="12192000" cy="68580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b="1" dirty="0" smtClean="0">
                <a:solidFill>
                  <a:schemeClr val="bg1"/>
                </a:solidFill>
              </a:rPr>
              <a:t>1. </a:t>
            </a:r>
            <a:r>
              <a:rPr lang="en-US" sz="6600" b="1" dirty="0" smtClean="0">
                <a:solidFill>
                  <a:srgbClr val="FFFF00"/>
                </a:solidFill>
              </a:rPr>
              <a:t>C</a:t>
            </a:r>
            <a:r>
              <a:rPr lang="en-US" sz="6600" b="1" dirty="0" smtClean="0"/>
              <a:t>ascading </a:t>
            </a:r>
            <a:r>
              <a:rPr lang="en-US" sz="6600" b="1" dirty="0" smtClean="0">
                <a:solidFill>
                  <a:srgbClr val="FFFF00"/>
                </a:solidFill>
              </a:rPr>
              <a:t>S</a:t>
            </a:r>
            <a:r>
              <a:rPr lang="en-US" sz="6600" b="1" dirty="0" smtClean="0"/>
              <a:t>tyle </a:t>
            </a:r>
            <a:r>
              <a:rPr lang="en-US" sz="6600" b="1" dirty="0" smtClean="0">
                <a:solidFill>
                  <a:srgbClr val="FFFF00"/>
                </a:solidFill>
              </a:rPr>
              <a:t>S</a:t>
            </a:r>
            <a:r>
              <a:rPr lang="en-US" sz="6600" b="1" dirty="0" smtClean="0"/>
              <a:t>heets</a:t>
            </a:r>
            <a:endParaRPr lang="en-US" sz="6600" b="1" dirty="0"/>
          </a:p>
        </p:txBody>
      </p:sp>
    </p:spTree>
    <p:extLst>
      <p:ext uri="{BB962C8B-B14F-4D97-AF65-F5344CB8AC3E}">
        <p14:creationId xmlns:p14="http://schemas.microsoft.com/office/powerpoint/2010/main" val="8445733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0" y="1160165"/>
            <a:ext cx="1219200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000" b="1" dirty="0" err="1" smtClean="0">
                <a:solidFill>
                  <a:schemeClr val="accent6">
                    <a:lumMod val="75000"/>
                  </a:schemeClr>
                </a:solidFill>
              </a:rPr>
              <a:t>C</a:t>
            </a:r>
            <a:r>
              <a:rPr lang="ru-RU" sz="6000" b="1" dirty="0" err="1" smtClean="0"/>
              <a:t>ascading</a:t>
            </a:r>
            <a:r>
              <a:rPr lang="ru-RU" sz="6000" b="1" dirty="0" smtClean="0"/>
              <a:t> </a:t>
            </a:r>
            <a:r>
              <a:rPr lang="ru-RU" sz="6000" b="1" dirty="0" err="1">
                <a:solidFill>
                  <a:schemeClr val="accent6">
                    <a:lumMod val="75000"/>
                  </a:schemeClr>
                </a:solidFill>
              </a:rPr>
              <a:t>S</a:t>
            </a:r>
            <a:r>
              <a:rPr lang="ru-RU" sz="6000" b="1" dirty="0" err="1"/>
              <a:t>tyle</a:t>
            </a:r>
            <a:r>
              <a:rPr lang="ru-RU" sz="6000" b="1" dirty="0"/>
              <a:t> </a:t>
            </a:r>
            <a:r>
              <a:rPr lang="ru-RU" sz="6000" b="1" dirty="0" err="1" smtClean="0">
                <a:solidFill>
                  <a:schemeClr val="accent6">
                    <a:lumMod val="75000"/>
                  </a:schemeClr>
                </a:solidFill>
              </a:rPr>
              <a:t>S</a:t>
            </a:r>
            <a:r>
              <a:rPr lang="ru-RU" sz="6000" b="1" dirty="0" err="1" smtClean="0"/>
              <a:t>heets</a:t>
            </a:r>
            <a:r>
              <a:rPr lang="en-US" sz="6000" b="1" dirty="0"/>
              <a:t> </a:t>
            </a:r>
            <a:endParaRPr lang="ru-RU" sz="6000" b="1" dirty="0" smtClean="0"/>
          </a:p>
          <a:p>
            <a:pPr algn="ctr"/>
            <a:r>
              <a:rPr lang="ru-RU" sz="4400" b="1" dirty="0" smtClean="0"/>
              <a:t>описание оформления </a:t>
            </a:r>
            <a:r>
              <a:rPr lang="en-US" sz="4400" b="1" dirty="0" smtClean="0"/>
              <a:t>HTML-</a:t>
            </a:r>
            <a:r>
              <a:rPr lang="ru-RU" sz="4400" b="1" dirty="0" smtClean="0"/>
              <a:t>документа</a:t>
            </a:r>
            <a:endParaRPr lang="ru-RU" sz="4400" dirty="0"/>
          </a:p>
        </p:txBody>
      </p:sp>
      <p:sp>
        <p:nvSpPr>
          <p:cNvPr id="8" name="Номер слайда 36"/>
          <p:cNvSpPr txBox="1">
            <a:spLocks/>
          </p:cNvSpPr>
          <p:nvPr/>
        </p:nvSpPr>
        <p:spPr>
          <a:xfrm>
            <a:off x="11208568" y="6165304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/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6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83432" y="3789040"/>
            <a:ext cx="10081120" cy="13234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bg1">
                <a:lumMod val="50000"/>
              </a:schemeClr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ru-RU" sz="4000" b="1" dirty="0">
                <a:solidFill>
                  <a:srgbClr val="0070C0"/>
                </a:solidFill>
              </a:rPr>
              <a:t>При помощи </a:t>
            </a:r>
            <a:r>
              <a:rPr lang="en-US" sz="4000" b="1" dirty="0">
                <a:solidFill>
                  <a:srgbClr val="0070C0"/>
                </a:solidFill>
              </a:rPr>
              <a:t>CSS</a:t>
            </a:r>
            <a:r>
              <a:rPr lang="ru-RU" sz="4000" b="1" dirty="0">
                <a:solidFill>
                  <a:srgbClr val="0070C0"/>
                </a:solidFill>
              </a:rPr>
              <a:t> мы можем задавать оформление </a:t>
            </a:r>
            <a:r>
              <a:rPr lang="ru-RU" sz="4000" b="1" dirty="0">
                <a:solidFill>
                  <a:schemeClr val="accent6">
                    <a:lumMod val="75000"/>
                  </a:schemeClr>
                </a:solidFill>
              </a:rPr>
              <a:t>конкретным</a:t>
            </a:r>
            <a:r>
              <a:rPr lang="ru-RU" sz="4000" b="1" dirty="0">
                <a:solidFill>
                  <a:srgbClr val="0070C0"/>
                </a:solidFill>
              </a:rPr>
              <a:t> тегам</a:t>
            </a:r>
          </a:p>
        </p:txBody>
      </p:sp>
    </p:spTree>
    <p:extLst>
      <p:ext uri="{BB962C8B-B14F-4D97-AF65-F5344CB8AC3E}">
        <p14:creationId xmlns:p14="http://schemas.microsoft.com/office/powerpoint/2010/main" val="13337736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980728"/>
            <a:ext cx="12192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000" b="1" dirty="0"/>
              <a:t>Зачем нужен </a:t>
            </a:r>
            <a:r>
              <a:rPr lang="en-US" sz="6000" b="1" dirty="0"/>
              <a:t>CSS</a:t>
            </a:r>
            <a:r>
              <a:rPr lang="ru-RU" sz="6000" b="1" dirty="0"/>
              <a:t>?</a:t>
            </a:r>
            <a:endParaRPr lang="en-US" sz="6000" b="1" dirty="0"/>
          </a:p>
        </p:txBody>
      </p:sp>
      <p:sp>
        <p:nvSpPr>
          <p:cNvPr id="8" name="Номер слайда 36"/>
          <p:cNvSpPr txBox="1">
            <a:spLocks/>
          </p:cNvSpPr>
          <p:nvPr/>
        </p:nvSpPr>
        <p:spPr>
          <a:xfrm>
            <a:off x="11208568" y="6165304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/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7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1343472" y="2924944"/>
            <a:ext cx="972108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4000" dirty="0" smtClean="0"/>
              <a:t>Для </a:t>
            </a:r>
            <a:r>
              <a:rPr lang="ru-RU" sz="4000" b="1" dirty="0" smtClean="0">
                <a:solidFill>
                  <a:srgbClr val="00B050"/>
                </a:solidFill>
              </a:rPr>
              <a:t>разделение контента</a:t>
            </a:r>
            <a:r>
              <a:rPr lang="ru-RU" sz="4000" dirty="0" smtClean="0">
                <a:solidFill>
                  <a:srgbClr val="00B050"/>
                </a:solidFill>
              </a:rPr>
              <a:t> </a:t>
            </a:r>
            <a:r>
              <a:rPr lang="ru-RU" sz="4000" dirty="0" smtClean="0"/>
              <a:t>и </a:t>
            </a:r>
            <a:r>
              <a:rPr lang="ru-RU" sz="4000" b="1" dirty="0" smtClean="0">
                <a:solidFill>
                  <a:srgbClr val="00B050"/>
                </a:solidFill>
              </a:rPr>
              <a:t>его</a:t>
            </a:r>
            <a:r>
              <a:rPr lang="ru-RU" sz="4000" dirty="0" smtClean="0"/>
              <a:t> </a:t>
            </a:r>
            <a:r>
              <a:rPr lang="ru-RU" sz="4000" b="1" dirty="0" smtClean="0">
                <a:solidFill>
                  <a:srgbClr val="00B050"/>
                </a:solidFill>
              </a:rPr>
              <a:t>оформления</a:t>
            </a:r>
            <a:r>
              <a:rPr lang="ru-RU" sz="4000" dirty="0" smtClean="0"/>
              <a:t>, и для </a:t>
            </a:r>
            <a:r>
              <a:rPr lang="ru-RU" sz="4000" b="1" dirty="0" smtClean="0">
                <a:solidFill>
                  <a:srgbClr val="0070C0"/>
                </a:solidFill>
              </a:rPr>
              <a:t>минимизации</a:t>
            </a:r>
            <a:r>
              <a:rPr lang="ru-RU" sz="4000" dirty="0" smtClean="0">
                <a:solidFill>
                  <a:srgbClr val="0070C0"/>
                </a:solidFill>
              </a:rPr>
              <a:t> </a:t>
            </a:r>
            <a:r>
              <a:rPr lang="ru-RU" sz="4000" b="1" dirty="0" smtClean="0">
                <a:solidFill>
                  <a:srgbClr val="0070C0"/>
                </a:solidFill>
              </a:rPr>
              <a:t>повторений в</a:t>
            </a:r>
            <a:r>
              <a:rPr lang="ru-RU" sz="4000" dirty="0" smtClean="0">
                <a:solidFill>
                  <a:srgbClr val="0070C0"/>
                </a:solidFill>
              </a:rPr>
              <a:t> </a:t>
            </a:r>
            <a:r>
              <a:rPr lang="ru-RU" sz="4000" b="1" dirty="0" smtClean="0">
                <a:solidFill>
                  <a:srgbClr val="0070C0"/>
                </a:solidFill>
              </a:rPr>
              <a:t>коде</a:t>
            </a:r>
            <a:endParaRPr lang="ru-RU" sz="40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35012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0" y="303620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400" b="1" dirty="0"/>
              <a:t>Синтаксис </a:t>
            </a:r>
            <a:r>
              <a:rPr lang="en-US" sz="4400" b="1" dirty="0"/>
              <a:t>CSS</a:t>
            </a:r>
          </a:p>
        </p:txBody>
      </p:sp>
      <p:sp>
        <p:nvSpPr>
          <p:cNvPr id="7" name="Номер слайда 36"/>
          <p:cNvSpPr txBox="1">
            <a:spLocks/>
          </p:cNvSpPr>
          <p:nvPr/>
        </p:nvSpPr>
        <p:spPr>
          <a:xfrm>
            <a:off x="11136560" y="6165304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/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8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2267682" y="2875583"/>
            <a:ext cx="757585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4400" b="1" dirty="0" smtClean="0">
                <a:solidFill>
                  <a:srgbClr val="FF0000"/>
                </a:solidFill>
              </a:rPr>
              <a:t>h2</a:t>
            </a:r>
            <a:r>
              <a:rPr lang="en-US" sz="4400" b="1" dirty="0" smtClean="0"/>
              <a:t> </a:t>
            </a:r>
            <a:r>
              <a:rPr lang="en-US" sz="4400" b="1" dirty="0"/>
              <a:t>{ </a:t>
            </a:r>
            <a:r>
              <a:rPr lang="en-US" sz="4400" b="1" dirty="0">
                <a:solidFill>
                  <a:srgbClr val="00B050"/>
                </a:solidFill>
              </a:rPr>
              <a:t>color</a:t>
            </a:r>
            <a:r>
              <a:rPr lang="en-US" sz="4400" b="1" dirty="0"/>
              <a:t>: </a:t>
            </a:r>
            <a:r>
              <a:rPr lang="en-US" sz="4400" b="1" dirty="0">
                <a:solidFill>
                  <a:schemeClr val="accent6"/>
                </a:solidFill>
              </a:rPr>
              <a:t>red</a:t>
            </a:r>
            <a:r>
              <a:rPr lang="en-US" sz="4400" b="1" dirty="0"/>
              <a:t>; </a:t>
            </a:r>
            <a:r>
              <a:rPr lang="en-US" sz="4400" b="1" dirty="0">
                <a:solidFill>
                  <a:srgbClr val="00B050"/>
                </a:solidFill>
              </a:rPr>
              <a:t>font-size</a:t>
            </a:r>
            <a:r>
              <a:rPr lang="en-US" sz="4400" b="1" dirty="0"/>
              <a:t>: </a:t>
            </a:r>
            <a:r>
              <a:rPr lang="en-US" sz="4400" b="1" dirty="0">
                <a:solidFill>
                  <a:schemeClr val="accent6"/>
                </a:solidFill>
              </a:rPr>
              <a:t>16pt</a:t>
            </a:r>
            <a:r>
              <a:rPr lang="en-US" sz="4400" b="1" dirty="0"/>
              <a:t>; }</a:t>
            </a:r>
          </a:p>
        </p:txBody>
      </p:sp>
      <p:sp>
        <p:nvSpPr>
          <p:cNvPr id="10" name="Прямоугольная выноска 9"/>
          <p:cNvSpPr/>
          <p:nvPr/>
        </p:nvSpPr>
        <p:spPr>
          <a:xfrm>
            <a:off x="2135560" y="1412776"/>
            <a:ext cx="3528392" cy="1368152"/>
          </a:xfrm>
          <a:prstGeom prst="wedgeRectCallout">
            <a:avLst>
              <a:gd name="adj1" fmla="val -31359"/>
              <a:gd name="adj2" fmla="val 65746"/>
            </a:avLst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2000" b="1" dirty="0">
                <a:solidFill>
                  <a:schemeClr val="tx1"/>
                </a:solidFill>
              </a:rPr>
              <a:t>CSS </a:t>
            </a:r>
            <a:r>
              <a:rPr lang="ru-RU" sz="2000" b="1" dirty="0">
                <a:solidFill>
                  <a:schemeClr val="tx1"/>
                </a:solidFill>
              </a:rPr>
              <a:t>селектор</a:t>
            </a:r>
            <a:r>
              <a:rPr lang="ru-RU" sz="2000" dirty="0">
                <a:solidFill>
                  <a:schemeClr val="tx1"/>
                </a:solidFill>
              </a:rPr>
              <a:t>, говорит к каким тегам (элементам) будет применятся описываемый стиль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smtClean="0">
                <a:solidFill>
                  <a:schemeClr val="tx1"/>
                </a:solidFill>
              </a:rPr>
              <a:t>(</a:t>
            </a:r>
            <a:r>
              <a:rPr lang="en-US" sz="2000" b="1" dirty="0" smtClean="0">
                <a:solidFill>
                  <a:schemeClr val="tx1"/>
                </a:solidFill>
              </a:rPr>
              <a:t>CSS </a:t>
            </a:r>
            <a:r>
              <a:rPr lang="en-US" sz="2000" b="1" dirty="0">
                <a:solidFill>
                  <a:schemeClr val="tx1"/>
                </a:solidFill>
              </a:rPr>
              <a:t>selector</a:t>
            </a:r>
            <a:r>
              <a:rPr lang="en-US" sz="2000" dirty="0">
                <a:solidFill>
                  <a:schemeClr val="tx1"/>
                </a:solidFill>
              </a:rPr>
              <a:t>)</a:t>
            </a:r>
            <a:r>
              <a:rPr lang="ru-RU" sz="20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1" name="Прямоугольная выноска 10"/>
          <p:cNvSpPr/>
          <p:nvPr/>
        </p:nvSpPr>
        <p:spPr>
          <a:xfrm flipV="1">
            <a:off x="2927648" y="3717032"/>
            <a:ext cx="5112568" cy="1152128"/>
          </a:xfrm>
          <a:prstGeom prst="wedgeRectCallou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071664" y="3789040"/>
            <a:ext cx="489654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/>
              <a:t>Имя свойства, которое устанавливается (</a:t>
            </a:r>
            <a:r>
              <a:rPr lang="en-US" sz="2000" b="1" dirty="0"/>
              <a:t>property</a:t>
            </a:r>
            <a:r>
              <a:rPr lang="ru-RU" sz="2000" dirty="0" smtClean="0"/>
              <a:t>). Каждое свойство задаёт один аспект оформления, например: цвет текста</a:t>
            </a:r>
            <a:endParaRPr lang="ru-RU" sz="2000" dirty="0"/>
          </a:p>
        </p:txBody>
      </p:sp>
      <p:sp>
        <p:nvSpPr>
          <p:cNvPr id="13" name="Прямоугольная выноска 12"/>
          <p:cNvSpPr/>
          <p:nvPr/>
        </p:nvSpPr>
        <p:spPr>
          <a:xfrm>
            <a:off x="6096000" y="1412776"/>
            <a:ext cx="4104456" cy="1368152"/>
          </a:xfrm>
          <a:prstGeom prst="wedgeRectCallout">
            <a:avLst>
              <a:gd name="adj1" fmla="val 20990"/>
              <a:gd name="adj2" fmla="val 69756"/>
            </a:avLst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ru-RU" sz="2000" dirty="0">
                <a:solidFill>
                  <a:schemeClr val="tx1"/>
                </a:solidFill>
              </a:rPr>
              <a:t>Значение которое устанавливается для свойства (</a:t>
            </a:r>
            <a:r>
              <a:rPr lang="en-US" sz="2000" b="1" dirty="0">
                <a:solidFill>
                  <a:schemeClr val="tx1"/>
                </a:solidFill>
              </a:rPr>
              <a:t>value</a:t>
            </a:r>
            <a:r>
              <a:rPr lang="ru-RU" sz="2000" dirty="0" smtClean="0">
                <a:solidFill>
                  <a:schemeClr val="tx1"/>
                </a:solidFill>
              </a:rPr>
              <a:t>), например (в зависимости от свойства): размер, цвет, название шрифта и т</a:t>
            </a:r>
            <a:r>
              <a:rPr lang="en-US" sz="2000" dirty="0" smtClean="0">
                <a:solidFill>
                  <a:schemeClr val="tx1"/>
                </a:solidFill>
              </a:rPr>
              <a:t>.</a:t>
            </a:r>
            <a:r>
              <a:rPr lang="ru-RU" sz="2000" dirty="0" smtClean="0">
                <a:solidFill>
                  <a:schemeClr val="tx1"/>
                </a:solidFill>
              </a:rPr>
              <a:t>п.</a:t>
            </a:r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135560" y="5129897"/>
            <a:ext cx="806489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Код на языке </a:t>
            </a:r>
            <a:r>
              <a:rPr lang="en-US" sz="2000" b="1" dirty="0" smtClean="0"/>
              <a:t>CSS</a:t>
            </a:r>
            <a:r>
              <a:rPr lang="en-US" sz="2000" dirty="0" smtClean="0"/>
              <a:t> </a:t>
            </a:r>
            <a:r>
              <a:rPr lang="ru-RU" sz="2000" dirty="0" smtClean="0"/>
              <a:t>состоит из стилевых правил, каждое правило содержит </a:t>
            </a:r>
            <a:r>
              <a:rPr lang="ru-RU" sz="2000" b="1" dirty="0" smtClean="0"/>
              <a:t>селектор</a:t>
            </a:r>
            <a:r>
              <a:rPr lang="ru-RU" sz="2000" dirty="0" smtClean="0"/>
              <a:t> (указание на то какие теги необходимо оформить эти правилом) и набор </a:t>
            </a:r>
            <a:r>
              <a:rPr lang="ru-RU" sz="2000" b="1" dirty="0" smtClean="0"/>
              <a:t>стилевых свойств</a:t>
            </a:r>
            <a:r>
              <a:rPr lang="ru-RU" sz="2000" dirty="0" smtClean="0"/>
              <a:t>, которые и задают оформление (на примере </a:t>
            </a:r>
            <a:r>
              <a:rPr lang="en-US" sz="2000" b="1" i="1" dirty="0" smtClean="0"/>
              <a:t>color</a:t>
            </a:r>
            <a:r>
              <a:rPr lang="en-US" sz="2000" dirty="0" smtClean="0"/>
              <a:t>, </a:t>
            </a:r>
            <a:r>
              <a:rPr lang="en-US" sz="2000" b="1" i="1" dirty="0" smtClean="0"/>
              <a:t>font-size</a:t>
            </a:r>
            <a:r>
              <a:rPr lang="ru-RU" sz="2000" i="1" dirty="0" smtClean="0"/>
              <a:t>,</a:t>
            </a:r>
            <a:r>
              <a:rPr lang="ru-RU" sz="2000" b="1" i="1" dirty="0" smtClean="0"/>
              <a:t> </a:t>
            </a:r>
            <a:r>
              <a:rPr lang="en-US" sz="2000" b="1" i="1" dirty="0" smtClean="0"/>
              <a:t>background-color </a:t>
            </a:r>
            <a:r>
              <a:rPr lang="uk-UA" sz="2000" i="1" dirty="0" smtClean="0"/>
              <a:t>и </a:t>
            </a:r>
            <a:r>
              <a:rPr lang="uk-UA" sz="2000" i="1" dirty="0" err="1" smtClean="0"/>
              <a:t>т.д</a:t>
            </a:r>
            <a:r>
              <a:rPr lang="uk-UA" sz="2000" i="1" dirty="0" smtClean="0"/>
              <a:t>.</a:t>
            </a:r>
            <a:r>
              <a:rPr lang="ru-RU" sz="2000" dirty="0" smtClean="0"/>
              <a:t>).</a:t>
            </a:r>
            <a:endParaRPr lang="uk-UA" sz="2000" dirty="0"/>
          </a:p>
        </p:txBody>
      </p:sp>
    </p:spTree>
    <p:extLst>
      <p:ext uri="{BB962C8B-B14F-4D97-AF65-F5344CB8AC3E}">
        <p14:creationId xmlns:p14="http://schemas.microsoft.com/office/powerpoint/2010/main" val="2578747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b="1" dirty="0" smtClean="0"/>
              <a:t>2. </a:t>
            </a:r>
            <a:r>
              <a:rPr lang="ru-RU" sz="6000" b="1" dirty="0" smtClean="0"/>
              <a:t>Где </a:t>
            </a:r>
            <a:r>
              <a:rPr lang="ru-RU" sz="6000" b="1" dirty="0"/>
              <a:t>размещать </a:t>
            </a:r>
            <a:r>
              <a:rPr lang="en-US" sz="6000" b="1" dirty="0"/>
              <a:t>CSS</a:t>
            </a:r>
            <a:r>
              <a:rPr lang="ru-RU" sz="6000" b="1" dirty="0"/>
              <a:t>?</a:t>
            </a:r>
            <a:endParaRPr lang="uk-UA" sz="6000" b="1" dirty="0"/>
          </a:p>
        </p:txBody>
      </p:sp>
    </p:spTree>
    <p:extLst>
      <p:ext uri="{BB962C8B-B14F-4D97-AF65-F5344CB8AC3E}">
        <p14:creationId xmlns:p14="http://schemas.microsoft.com/office/powerpoint/2010/main" val="651241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Номер слайда 36"/>
          <p:cNvSpPr txBox="1">
            <a:spLocks/>
          </p:cNvSpPr>
          <p:nvPr/>
        </p:nvSpPr>
        <p:spPr>
          <a:xfrm>
            <a:off x="11208568" y="6237312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/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10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7248127" y="653787"/>
            <a:ext cx="494387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4800" b="1" dirty="0"/>
              <a:t>В теге </a:t>
            </a:r>
            <a:r>
              <a:rPr lang="en-US" sz="4800" b="1" dirty="0">
                <a:solidFill>
                  <a:srgbClr val="00B050"/>
                </a:solidFill>
              </a:rPr>
              <a:t>&lt;style</a:t>
            </a:r>
            <a:r>
              <a:rPr lang="en-US" sz="4800" b="1" dirty="0" smtClean="0">
                <a:solidFill>
                  <a:srgbClr val="00B050"/>
                </a:solidFill>
              </a:rPr>
              <a:t>&gt;</a:t>
            </a:r>
            <a:r>
              <a:rPr lang="ru-RU" sz="4800" b="1" dirty="0" smtClean="0">
                <a:solidFill>
                  <a:srgbClr val="00B050"/>
                </a:solidFill>
              </a:rPr>
              <a:t> </a:t>
            </a:r>
            <a:endParaRPr lang="uk-UA" sz="4800" b="1" dirty="0">
              <a:solidFill>
                <a:srgbClr val="00B05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248128" y="2326228"/>
            <a:ext cx="482453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 smtClean="0"/>
              <a:t>В рамках </a:t>
            </a:r>
            <a:r>
              <a:rPr lang="en-US" sz="3200" dirty="0" smtClean="0"/>
              <a:t>HTML-</a:t>
            </a:r>
            <a:r>
              <a:rPr lang="ru-RU" sz="3200" dirty="0" smtClean="0"/>
              <a:t>документа. Стандарт </a:t>
            </a:r>
            <a:r>
              <a:rPr lang="en-US" sz="3200" b="1" dirty="0"/>
              <a:t>HTML 5.2 </a:t>
            </a:r>
            <a:r>
              <a:rPr lang="ru-RU" sz="3200" dirty="0" smtClean="0"/>
              <a:t>дал </a:t>
            </a:r>
            <a:r>
              <a:rPr lang="ru-RU" sz="3200" dirty="0"/>
              <a:t>возможность размещать этот тег в любом месте документа.</a:t>
            </a:r>
            <a:endParaRPr lang="uk-UA" sz="3200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769573" cy="6858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182405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334397"/>
            <a:ext cx="12192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600" b="1" dirty="0" smtClean="0"/>
              <a:t>В отдельном файле с </a:t>
            </a:r>
            <a:r>
              <a:rPr lang="en-US" sz="3600" b="1" dirty="0" smtClean="0"/>
              <a:t>CSS-</a:t>
            </a:r>
            <a:r>
              <a:rPr lang="ru-RU" sz="3600" b="1" dirty="0" smtClean="0"/>
              <a:t>кодом</a:t>
            </a:r>
            <a:endParaRPr lang="en-US" sz="4800" b="1" dirty="0">
              <a:solidFill>
                <a:srgbClr val="00B050"/>
              </a:solidFill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7104112" y="1772816"/>
            <a:ext cx="475252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style.css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Номер слайда 36"/>
          <p:cNvSpPr txBox="1">
            <a:spLocks/>
          </p:cNvSpPr>
          <p:nvPr/>
        </p:nvSpPr>
        <p:spPr>
          <a:xfrm>
            <a:off x="11208568" y="6237312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/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11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9337" y="5301208"/>
            <a:ext cx="799292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 smtClean="0"/>
              <a:t>При помощи тега </a:t>
            </a:r>
            <a:endParaRPr lang="en-US" sz="3200" b="1" dirty="0" smtClean="0"/>
          </a:p>
          <a:p>
            <a:r>
              <a:rPr lang="en-US" sz="2400" b="1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&lt;link</a:t>
            </a:r>
            <a:r>
              <a:rPr lang="en-US" sz="24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b="1" dirty="0" err="1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rel</a:t>
            </a:r>
            <a:r>
              <a:rPr lang="en-US" sz="24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=‘</a:t>
            </a:r>
            <a:r>
              <a:rPr lang="en-US" sz="2400" b="1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stylesheet</a:t>
            </a:r>
            <a:r>
              <a:rPr lang="en-US" sz="24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’ </a:t>
            </a:r>
            <a:r>
              <a:rPr lang="en-US" sz="2400" b="1" dirty="0" err="1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href</a:t>
            </a:r>
            <a:r>
              <a:rPr lang="en-US" sz="2400" b="1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=‘./style.css</a:t>
            </a:r>
            <a:r>
              <a:rPr lang="en-US" sz="24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’</a:t>
            </a:r>
            <a:r>
              <a:rPr lang="en-US" sz="2400" b="1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uk-UA" sz="24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79376" y="4068361"/>
            <a:ext cx="61942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index.html</a:t>
            </a:r>
            <a:endParaRPr lang="uk-UA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376" y="1124744"/>
            <a:ext cx="6194236" cy="288032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112" y="2416173"/>
            <a:ext cx="4752528" cy="273930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421478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b="1" dirty="0" smtClean="0"/>
              <a:t>3. </a:t>
            </a:r>
            <a:r>
              <a:rPr lang="ru-RU" sz="6600" b="1" dirty="0" smtClean="0"/>
              <a:t>Что </a:t>
            </a:r>
            <a:r>
              <a:rPr lang="en-US" sz="6600" b="1" dirty="0"/>
              <a:t>CSS </a:t>
            </a:r>
            <a:r>
              <a:rPr lang="ru-RU" sz="6600" b="1" dirty="0"/>
              <a:t>может </a:t>
            </a:r>
            <a:r>
              <a:rPr lang="en-US" sz="6600" b="1" dirty="0" smtClean="0"/>
              <a:t/>
            </a:r>
            <a:br>
              <a:rPr lang="en-US" sz="6600" b="1" dirty="0" smtClean="0"/>
            </a:br>
            <a:r>
              <a:rPr lang="ru-RU" sz="6600" b="1" dirty="0" smtClean="0"/>
              <a:t>предложить</a:t>
            </a:r>
            <a:r>
              <a:rPr lang="ru-RU" sz="6600" b="1" dirty="0"/>
              <a:t>?</a:t>
            </a:r>
            <a:endParaRPr lang="uk-UA" sz="6600" b="1" dirty="0"/>
          </a:p>
        </p:txBody>
      </p:sp>
    </p:spTree>
    <p:extLst>
      <p:ext uri="{BB962C8B-B14F-4D97-AF65-F5344CB8AC3E}">
        <p14:creationId xmlns:p14="http://schemas.microsoft.com/office/powerpoint/2010/main" val="19842576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36"/>
          <p:cNvSpPr txBox="1">
            <a:spLocks/>
          </p:cNvSpPr>
          <p:nvPr/>
        </p:nvSpPr>
        <p:spPr>
          <a:xfrm>
            <a:off x="11208568" y="6165304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/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13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983384" y="548680"/>
            <a:ext cx="34916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/>
              <a:t>CSS </a:t>
            </a:r>
            <a:r>
              <a:rPr lang="ru-RU" sz="3200" b="1" dirty="0"/>
              <a:t>по категориям</a:t>
            </a:r>
            <a:endParaRPr lang="ru-RU" sz="2000" i="1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6272654" y="5013176"/>
            <a:ext cx="421583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>
                <a:hlinkClick r:id="rId2"/>
              </a:rPr>
              <a:t>https://webref.ru/css/type</a:t>
            </a:r>
            <a:endParaRPr lang="ru-RU" sz="2800" b="1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76"/>
            <a:ext cx="4023466" cy="6842724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015880" y="2363396"/>
            <a:ext cx="5400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 smtClean="0"/>
              <a:t>CSS</a:t>
            </a:r>
            <a:r>
              <a:rPr lang="en-US" sz="2400" dirty="0" smtClean="0"/>
              <a:t> </a:t>
            </a:r>
            <a:r>
              <a:rPr lang="ru-RU" sz="2400" dirty="0" smtClean="0"/>
              <a:t>отвечает за большое количество аспектов оформления, и начнём мы с свойств позволяющих задать </a:t>
            </a:r>
            <a:r>
              <a:rPr lang="ru-RU" sz="2400" b="1" dirty="0" smtClean="0"/>
              <a:t>оформление текста</a:t>
            </a:r>
            <a:endParaRPr lang="uk-UA" sz="2400" b="1" dirty="0"/>
          </a:p>
        </p:txBody>
      </p:sp>
    </p:spTree>
    <p:extLst>
      <p:ext uri="{BB962C8B-B14F-4D97-AF65-F5344CB8AC3E}">
        <p14:creationId xmlns:p14="http://schemas.microsoft.com/office/powerpoint/2010/main" val="39674904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200" b="1" dirty="0"/>
              <a:t>4</a:t>
            </a:r>
            <a:r>
              <a:rPr lang="en-US" sz="7200" b="1" dirty="0" smtClean="0"/>
              <a:t>. </a:t>
            </a:r>
            <a:r>
              <a:rPr lang="ru-RU" sz="7200" b="1" dirty="0" smtClean="0"/>
              <a:t>На практике…</a:t>
            </a:r>
            <a:endParaRPr lang="uk-UA" sz="7200" b="1" dirty="0"/>
          </a:p>
        </p:txBody>
      </p:sp>
    </p:spTree>
    <p:extLst>
      <p:ext uri="{BB962C8B-B14F-4D97-AF65-F5344CB8AC3E}">
        <p14:creationId xmlns:p14="http://schemas.microsoft.com/office/powerpoint/2010/main" val="41239335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7464152" y="1550640"/>
            <a:ext cx="41764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Подготовьте разметку на основе таких команд </a:t>
            </a:r>
            <a:r>
              <a:rPr lang="en-US" sz="2400" b="1" dirty="0" smtClean="0"/>
              <a:t>Emmet</a:t>
            </a:r>
            <a:r>
              <a:rPr lang="en-US" sz="2400" dirty="0" smtClean="0"/>
              <a:t>’</a:t>
            </a:r>
            <a:r>
              <a:rPr lang="uk-UA" sz="2400" dirty="0" smtClean="0"/>
              <a:t>а</a:t>
            </a:r>
            <a:r>
              <a:rPr lang="en-US" sz="2400" dirty="0" smtClean="0"/>
              <a:t> </a:t>
            </a:r>
            <a:r>
              <a:rPr lang="uk-UA" sz="2400" dirty="0" smtClean="0"/>
              <a:t>в </a:t>
            </a:r>
            <a:r>
              <a:rPr lang="en-US" sz="2400" b="1" dirty="0" err="1" smtClean="0"/>
              <a:t>VSCode</a:t>
            </a:r>
            <a:r>
              <a:rPr lang="en-US" sz="2400" b="1" dirty="0" smtClean="0"/>
              <a:t> </a:t>
            </a:r>
            <a:r>
              <a:rPr lang="en-US" sz="2400" dirty="0" smtClean="0"/>
              <a:t>(</a:t>
            </a:r>
            <a:r>
              <a:rPr lang="uk-UA" sz="2400" dirty="0" smtClean="0"/>
              <a:t>команд</a:t>
            </a:r>
            <a:r>
              <a:rPr lang="ru-RU" sz="2400" dirty="0" smtClean="0"/>
              <a:t>ы выполняются по одной</a:t>
            </a:r>
            <a:r>
              <a:rPr lang="en-US" sz="2400" dirty="0" smtClean="0"/>
              <a:t>)</a:t>
            </a:r>
          </a:p>
          <a:p>
            <a:endParaRPr lang="ru-RU" sz="2400" dirty="0"/>
          </a:p>
          <a:p>
            <a:r>
              <a:rPr lang="en-US" sz="2400" dirty="0" smtClean="0"/>
              <a:t>1)</a:t>
            </a:r>
            <a:r>
              <a:rPr lang="uk-UA" sz="2400" dirty="0" smtClean="0"/>
              <a:t>Каркас </a:t>
            </a:r>
            <a:r>
              <a:rPr lang="en-US" sz="2400" dirty="0" smtClean="0"/>
              <a:t>HTML</a:t>
            </a:r>
            <a:r>
              <a:rPr lang="uk-UA" sz="2400" dirty="0" smtClean="0"/>
              <a:t>-</a:t>
            </a:r>
            <a:r>
              <a:rPr lang="uk-UA" sz="2400" dirty="0" err="1" smtClean="0"/>
              <a:t>разметки</a:t>
            </a:r>
            <a:r>
              <a:rPr lang="en-US" sz="2400" dirty="0" smtClean="0"/>
              <a:t>;</a:t>
            </a:r>
            <a:endParaRPr lang="uk-UA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2) </a:t>
            </a:r>
            <a:r>
              <a:rPr lang="uk-UA" sz="2400" dirty="0" smtClean="0"/>
              <a:t>Один заголовок </a:t>
            </a:r>
            <a:r>
              <a:rPr lang="en-US" sz="2400" b="1" dirty="0" smtClean="0"/>
              <a:t>&lt;h1&gt; </a:t>
            </a:r>
            <a:r>
              <a:rPr lang="uk-UA" sz="2400" dirty="0" smtClean="0"/>
              <a:t>с 10-ю словами;</a:t>
            </a:r>
          </a:p>
          <a:p>
            <a:endParaRPr lang="uk-UA" sz="2400" dirty="0" smtClean="0"/>
          </a:p>
          <a:p>
            <a:r>
              <a:rPr lang="uk-UA" sz="2400" dirty="0" smtClean="0"/>
              <a:t>3) Три </a:t>
            </a:r>
            <a:r>
              <a:rPr lang="ru-RU" sz="2400" dirty="0" smtClean="0"/>
              <a:t>параграфа </a:t>
            </a:r>
            <a:r>
              <a:rPr lang="en-US" sz="2400" b="1" dirty="0" smtClean="0"/>
              <a:t>&lt;p&gt; </a:t>
            </a:r>
            <a:r>
              <a:rPr lang="uk-UA" sz="2400" dirty="0" smtClean="0"/>
              <a:t>с 70-ю словами </a:t>
            </a:r>
            <a:r>
              <a:rPr lang="ru-RU" sz="2400" dirty="0" smtClean="0"/>
              <a:t>каждый.</a:t>
            </a:r>
            <a:endParaRPr lang="ru-RU" sz="2400" b="1" dirty="0"/>
          </a:p>
        </p:txBody>
      </p:sp>
      <p:sp>
        <p:nvSpPr>
          <p:cNvPr id="7" name="Номер слайда 36"/>
          <p:cNvSpPr txBox="1">
            <a:spLocks/>
          </p:cNvSpPr>
          <p:nvPr/>
        </p:nvSpPr>
        <p:spPr>
          <a:xfrm>
            <a:off x="11136560" y="6194992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/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15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260648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/>
              <a:t>CSS </a:t>
            </a:r>
            <a:r>
              <a:rPr lang="ru-RU" sz="4800" b="1" dirty="0"/>
              <a:t>на практике</a:t>
            </a:r>
            <a:endParaRPr lang="ru-RU" sz="3600" i="1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1550640"/>
            <a:ext cx="6257925" cy="40386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27879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7200" b="1" dirty="0" smtClean="0"/>
              <a:t>5</a:t>
            </a:r>
            <a:r>
              <a:rPr lang="en-US" sz="7200" b="1" dirty="0" smtClean="0"/>
              <a:t>. </a:t>
            </a:r>
            <a:r>
              <a:rPr lang="ru-RU" sz="7200" b="1" dirty="0" smtClean="0"/>
              <a:t>Задание </a:t>
            </a:r>
            <a:r>
              <a:rPr lang="ru-RU" sz="7200" b="1" dirty="0"/>
              <a:t>цвета</a:t>
            </a:r>
            <a:endParaRPr lang="uk-UA" sz="7200" b="1" dirty="0"/>
          </a:p>
        </p:txBody>
      </p:sp>
    </p:spTree>
    <p:extLst>
      <p:ext uri="{BB962C8B-B14F-4D97-AF65-F5344CB8AC3E}">
        <p14:creationId xmlns:p14="http://schemas.microsoft.com/office/powerpoint/2010/main" val="558818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639615" y="200834"/>
            <a:ext cx="69127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b="1" dirty="0"/>
              <a:t>Способы задание цвета в </a:t>
            </a:r>
            <a:r>
              <a:rPr lang="en-US" sz="4000" b="1" dirty="0"/>
              <a:t>CSS</a:t>
            </a:r>
            <a:endParaRPr lang="en-US" sz="4000" b="1" dirty="0">
              <a:solidFill>
                <a:srgbClr val="C00000"/>
              </a:solidFill>
            </a:endParaRPr>
          </a:p>
        </p:txBody>
      </p:sp>
      <p:sp>
        <p:nvSpPr>
          <p:cNvPr id="4" name="Номер слайда 36"/>
          <p:cNvSpPr txBox="1">
            <a:spLocks/>
          </p:cNvSpPr>
          <p:nvPr/>
        </p:nvSpPr>
        <p:spPr>
          <a:xfrm>
            <a:off x="11280576" y="6309320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/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17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847528" y="980728"/>
            <a:ext cx="90730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Свойство </a:t>
            </a:r>
            <a:r>
              <a:rPr lang="en-US" sz="2400" b="1" dirty="0" smtClean="0">
                <a:solidFill>
                  <a:srgbClr val="0070C0"/>
                </a:solidFill>
              </a:rPr>
              <a:t>color</a:t>
            </a:r>
            <a:r>
              <a:rPr lang="en-US" sz="2400" dirty="0" smtClean="0"/>
              <a:t> </a:t>
            </a:r>
            <a:r>
              <a:rPr lang="ru-RU" sz="2400" dirty="0" smtClean="0"/>
              <a:t>задаёт цвет текста в теге, свойство </a:t>
            </a:r>
            <a:r>
              <a:rPr lang="en-US" sz="2400" b="1" dirty="0" smtClean="0">
                <a:solidFill>
                  <a:srgbClr val="00B050"/>
                </a:solidFill>
              </a:rPr>
              <a:t>background-color</a:t>
            </a:r>
            <a:r>
              <a:rPr lang="en-US" sz="2400" dirty="0" smtClean="0"/>
              <a:t> </a:t>
            </a:r>
            <a:r>
              <a:rPr lang="ru-RU" sz="2400" dirty="0" smtClean="0"/>
              <a:t>задаёт цвет фона для тега (по умолчанию фон прозрачный), также может быть использовано универсальной свойство </a:t>
            </a:r>
            <a:r>
              <a:rPr lang="en-US" sz="2400" b="1" dirty="0" smtClean="0">
                <a:solidFill>
                  <a:schemeClr val="accent6">
                    <a:lumMod val="75000"/>
                  </a:schemeClr>
                </a:solidFill>
              </a:rPr>
              <a:t>background</a:t>
            </a:r>
            <a:r>
              <a:rPr lang="ru-RU" sz="2400" dirty="0" smtClean="0"/>
              <a:t>.</a:t>
            </a:r>
            <a:endParaRPr lang="uk-UA" sz="2400" dirty="0"/>
          </a:p>
        </p:txBody>
      </p:sp>
      <p:sp>
        <p:nvSpPr>
          <p:cNvPr id="5" name="TextBox 4"/>
          <p:cNvSpPr txBox="1"/>
          <p:nvPr/>
        </p:nvSpPr>
        <p:spPr>
          <a:xfrm>
            <a:off x="1875963" y="2204864"/>
            <a:ext cx="383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 smtClean="0"/>
              <a:t>Значение цвета может быть задано: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1271464" y="2704852"/>
            <a:ext cx="1008112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 smtClean="0"/>
              <a:t>Константой: </a:t>
            </a:r>
            <a:r>
              <a:rPr lang="en-US" b="1" dirty="0" smtClean="0">
                <a:solidFill>
                  <a:srgbClr val="00B050"/>
                </a:solidFill>
              </a:rPr>
              <a:t>red</a:t>
            </a:r>
            <a:r>
              <a:rPr lang="en-US" b="1" dirty="0" smtClean="0"/>
              <a:t>,</a:t>
            </a:r>
            <a:r>
              <a:rPr lang="en-US" b="1" dirty="0" smtClean="0">
                <a:solidFill>
                  <a:srgbClr val="00B050"/>
                </a:solidFill>
              </a:rPr>
              <a:t> green</a:t>
            </a:r>
            <a:r>
              <a:rPr lang="en-US" b="1" dirty="0" smtClean="0"/>
              <a:t>,</a:t>
            </a:r>
            <a:r>
              <a:rPr lang="en-US" b="1" dirty="0" smtClean="0">
                <a:solidFill>
                  <a:srgbClr val="00B050"/>
                </a:solidFill>
              </a:rPr>
              <a:t> blue</a:t>
            </a:r>
            <a:r>
              <a:rPr lang="en-US" b="1" dirty="0" smtClean="0"/>
              <a:t>,</a:t>
            </a:r>
            <a:r>
              <a:rPr lang="en-US" b="1" dirty="0" smtClean="0">
                <a:solidFill>
                  <a:srgbClr val="00B050"/>
                </a:solidFill>
              </a:rPr>
              <a:t> orange</a:t>
            </a:r>
            <a:r>
              <a:rPr lang="en-US" b="1" dirty="0" smtClean="0"/>
              <a:t>...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 smtClean="0"/>
              <a:t>В виде кода цвета модели </a:t>
            </a:r>
            <a:r>
              <a:rPr lang="en-US" dirty="0" smtClean="0"/>
              <a:t>RGB</a:t>
            </a:r>
            <a:r>
              <a:rPr lang="ru-RU" dirty="0" smtClean="0"/>
              <a:t>, например: </a:t>
            </a:r>
            <a:r>
              <a:rPr lang="en-US" b="1" dirty="0" smtClean="0">
                <a:solidFill>
                  <a:srgbClr val="0070C0"/>
                </a:solidFill>
              </a:rPr>
              <a:t>color: </a:t>
            </a:r>
            <a:r>
              <a:rPr lang="en-US" b="1" dirty="0" err="1" smtClean="0">
                <a:solidFill>
                  <a:srgbClr val="00B050"/>
                </a:solidFill>
              </a:rPr>
              <a:t>rgb</a:t>
            </a:r>
            <a:r>
              <a:rPr lang="en-US" b="1" dirty="0" smtClean="0">
                <a:solidFill>
                  <a:srgbClr val="00B050"/>
                </a:solidFill>
              </a:rPr>
              <a:t>(255, 170, 20);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 smtClean="0"/>
              <a:t>В виде кода цвета модели </a:t>
            </a:r>
            <a:r>
              <a:rPr lang="en-US" dirty="0" smtClean="0"/>
              <a:t>RGBA </a:t>
            </a:r>
            <a:r>
              <a:rPr lang="ru-RU" dirty="0" smtClean="0"/>
              <a:t>(с прозрачностью), например: </a:t>
            </a:r>
            <a:r>
              <a:rPr lang="en-US" b="1" dirty="0" smtClean="0">
                <a:solidFill>
                  <a:srgbClr val="0070C0"/>
                </a:solidFill>
              </a:rPr>
              <a:t>color: </a:t>
            </a:r>
            <a:r>
              <a:rPr lang="en-US" b="1" dirty="0" err="1" smtClean="0">
                <a:solidFill>
                  <a:srgbClr val="00B050"/>
                </a:solidFill>
              </a:rPr>
              <a:t>rgba</a:t>
            </a:r>
            <a:r>
              <a:rPr lang="en-US" b="1" dirty="0" smtClean="0">
                <a:solidFill>
                  <a:srgbClr val="00B050"/>
                </a:solidFill>
              </a:rPr>
              <a:t>(255, 170, 20, 0.5);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 smtClean="0"/>
              <a:t>В виде цвета модели </a:t>
            </a:r>
            <a:r>
              <a:rPr lang="en-US" dirty="0" smtClean="0"/>
              <a:t>RGB</a:t>
            </a:r>
            <a:r>
              <a:rPr lang="ru-RU" dirty="0" smtClean="0"/>
              <a:t>(</a:t>
            </a:r>
            <a:r>
              <a:rPr lang="en-US" dirty="0" smtClean="0"/>
              <a:t>A</a:t>
            </a:r>
            <a:r>
              <a:rPr lang="ru-RU" dirty="0" smtClean="0"/>
              <a:t>)</a:t>
            </a:r>
            <a:r>
              <a:rPr lang="en-US" dirty="0" smtClean="0"/>
              <a:t> </a:t>
            </a:r>
            <a:r>
              <a:rPr lang="ru-RU" dirty="0" smtClean="0"/>
              <a:t>в виде шестнадцатеричного числа, например: </a:t>
            </a:r>
            <a:r>
              <a:rPr lang="en-US" b="1" dirty="0" smtClean="0">
                <a:solidFill>
                  <a:srgbClr val="00B050"/>
                </a:solidFill>
              </a:rPr>
              <a:t>#FFA522</a:t>
            </a:r>
            <a:r>
              <a:rPr lang="en-US" b="1" dirty="0" smtClean="0"/>
              <a:t>,</a:t>
            </a:r>
            <a:r>
              <a:rPr lang="en-US" b="1" dirty="0" smtClean="0">
                <a:solidFill>
                  <a:srgbClr val="00B050"/>
                </a:solidFill>
              </a:rPr>
              <a:t> #DA5FF023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 smtClean="0"/>
              <a:t>Для задания фона цвет может быть задан  в виде градиента при помощи функций </a:t>
            </a:r>
            <a:r>
              <a:rPr lang="en-US" i="1" dirty="0" smtClean="0"/>
              <a:t>linear-gradient, radial-gradient</a:t>
            </a:r>
            <a:r>
              <a:rPr lang="en-US" dirty="0" smtClean="0"/>
              <a:t>, </a:t>
            </a:r>
            <a:r>
              <a:rPr lang="ru-RU" dirty="0" smtClean="0"/>
              <a:t>например: </a:t>
            </a:r>
            <a:r>
              <a:rPr lang="en-US" b="1" dirty="0" smtClean="0">
                <a:solidFill>
                  <a:srgbClr val="0070C0"/>
                </a:solidFill>
              </a:rPr>
              <a:t>background: </a:t>
            </a:r>
            <a:r>
              <a:rPr lang="en-US" b="1" dirty="0" smtClean="0">
                <a:solidFill>
                  <a:srgbClr val="00B050"/>
                </a:solidFill>
              </a:rPr>
              <a:t>linear-gradient(red, pink, yellow);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 smtClean="0"/>
              <a:t>В качестве фона может быть установлено изображение, для этого применяется свойство </a:t>
            </a:r>
            <a:r>
              <a:rPr lang="en-US" i="1" dirty="0" smtClean="0"/>
              <a:t>background-image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2071267" y="6156012"/>
            <a:ext cx="33255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2"/>
              </a:rPr>
              <a:t>https://webref.ru/css/value/color</a:t>
            </a:r>
            <a:endParaRPr lang="uk-UA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2071267" y="5219908"/>
            <a:ext cx="27342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3"/>
              </a:rPr>
              <a:t>https://webref.ru/css/color</a:t>
            </a:r>
            <a:endParaRPr lang="uk-UA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2071267" y="5517232"/>
            <a:ext cx="33730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4"/>
              </a:rPr>
              <a:t>https://webref.ru/css/background</a:t>
            </a:r>
            <a:endParaRPr lang="uk-UA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2071267" y="5844218"/>
            <a:ext cx="39161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5"/>
              </a:rPr>
              <a:t>https://webref.ru/css/background-color</a:t>
            </a:r>
            <a:endParaRPr lang="uk-UA" dirty="0"/>
          </a:p>
        </p:txBody>
      </p:sp>
      <p:sp>
        <p:nvSpPr>
          <p:cNvPr id="12" name="Прямоугольник 11"/>
          <p:cNvSpPr/>
          <p:nvPr/>
        </p:nvSpPr>
        <p:spPr>
          <a:xfrm>
            <a:off x="6332559" y="5219908"/>
            <a:ext cx="42433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hlinkClick r:id="rId6"/>
              </a:rPr>
              <a:t>https://webref.ru/css/value/linear-gradient</a:t>
            </a:r>
            <a:endParaRPr lang="uk-UA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6342112" y="5517232"/>
            <a:ext cx="42337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7"/>
              </a:rPr>
              <a:t>https://webref.ru/css/value/radial-gradient</a:t>
            </a:r>
            <a:endParaRPr lang="uk-UA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6349587" y="5847762"/>
            <a:ext cx="40139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8"/>
              </a:rPr>
              <a:t>https://webref.ru/css/background-image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8830374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6000" b="1" dirty="0"/>
              <a:t>6</a:t>
            </a:r>
            <a:r>
              <a:rPr lang="en-US" sz="6000" b="1" dirty="0" smtClean="0"/>
              <a:t>. </a:t>
            </a:r>
            <a:r>
              <a:rPr lang="ru-RU" sz="6000" b="1" dirty="0" smtClean="0"/>
              <a:t>Консоль разработчика</a:t>
            </a:r>
            <a:endParaRPr lang="uk-UA" sz="6000" b="1" dirty="0"/>
          </a:p>
        </p:txBody>
      </p:sp>
    </p:spTree>
    <p:extLst>
      <p:ext uri="{BB962C8B-B14F-4D97-AF65-F5344CB8AC3E}">
        <p14:creationId xmlns:p14="http://schemas.microsoft.com/office/powerpoint/2010/main" val="4013970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36"/>
          <p:cNvSpPr txBox="1">
            <a:spLocks/>
          </p:cNvSpPr>
          <p:nvPr/>
        </p:nvSpPr>
        <p:spPr>
          <a:xfrm>
            <a:off x="11208568" y="6165304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/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19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07369" y="243805"/>
            <a:ext cx="1094521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/>
              <a:t>В консоли разработчика</a:t>
            </a:r>
            <a:r>
              <a:rPr lang="en-US" sz="2800" b="1" dirty="0"/>
              <a:t> (F12</a:t>
            </a:r>
            <a:r>
              <a:rPr lang="en-US" sz="2800" b="1" dirty="0" smtClean="0"/>
              <a:t>)</a:t>
            </a:r>
            <a:r>
              <a:rPr lang="ru-RU" sz="2800" b="1" dirty="0" smtClean="0"/>
              <a:t>, в закладке </a:t>
            </a:r>
            <a:r>
              <a:rPr lang="en-US" sz="2800" b="1" dirty="0" smtClean="0"/>
              <a:t>Elements (</a:t>
            </a:r>
            <a:r>
              <a:rPr lang="ru-RU" sz="2800" b="1" dirty="0" smtClean="0"/>
              <a:t>в</a:t>
            </a:r>
            <a:r>
              <a:rPr lang="en-US" sz="2800" b="1" dirty="0" smtClean="0"/>
              <a:t> </a:t>
            </a:r>
            <a:r>
              <a:rPr lang="ru-RU" sz="2800" b="1" dirty="0" smtClean="0"/>
              <a:t>её подразделе </a:t>
            </a:r>
            <a:r>
              <a:rPr lang="en-US" sz="2800" b="1" dirty="0" smtClean="0"/>
              <a:t>Styles)</a:t>
            </a:r>
            <a:r>
              <a:rPr lang="ru-RU" sz="2800" b="1" dirty="0" smtClean="0"/>
              <a:t>, </a:t>
            </a:r>
            <a:r>
              <a:rPr lang="ru-RU" sz="2800" b="1" dirty="0"/>
              <a:t>инспектор объектов</a:t>
            </a:r>
            <a:r>
              <a:rPr lang="en-US" sz="2800" b="1" dirty="0"/>
              <a:t> </a:t>
            </a:r>
            <a:r>
              <a:rPr lang="ru-RU" sz="2800" b="1" dirty="0"/>
              <a:t>покажет как браузер </a:t>
            </a:r>
            <a:r>
              <a:rPr lang="ru-RU" sz="2800" b="1" dirty="0">
                <a:solidFill>
                  <a:schemeClr val="accent6">
                    <a:lumMod val="75000"/>
                  </a:schemeClr>
                </a:solidFill>
              </a:rPr>
              <a:t>применяет </a:t>
            </a:r>
            <a:r>
              <a:rPr lang="ru-RU" sz="2800" b="1" dirty="0" smtClean="0">
                <a:solidFill>
                  <a:schemeClr val="accent6">
                    <a:lumMod val="75000"/>
                  </a:schemeClr>
                </a:solidFill>
              </a:rPr>
              <a:t/>
            </a:r>
            <a:br>
              <a:rPr lang="ru-RU" sz="2800" b="1" dirty="0" smtClean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800" b="1" dirty="0" smtClean="0">
                <a:solidFill>
                  <a:schemeClr val="accent6">
                    <a:lumMod val="75000"/>
                  </a:schemeClr>
                </a:solidFill>
              </a:rPr>
              <a:t>CSS</a:t>
            </a:r>
            <a:r>
              <a:rPr lang="ru-RU" sz="2800" b="1" dirty="0" smtClean="0">
                <a:solidFill>
                  <a:schemeClr val="accent6">
                    <a:lumMod val="75000"/>
                  </a:schemeClr>
                </a:solidFill>
              </a:rPr>
              <a:t>-стили </a:t>
            </a:r>
            <a:r>
              <a:rPr lang="ru-RU" sz="2800" b="1" dirty="0">
                <a:solidFill>
                  <a:schemeClr val="accent6">
                    <a:lumMod val="75000"/>
                  </a:schemeClr>
                </a:solidFill>
              </a:rPr>
              <a:t>к конкретным тегам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3472" y="1700808"/>
            <a:ext cx="3844583" cy="158417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472" y="3645024"/>
            <a:ext cx="3844583" cy="2845195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456040" y="2117470"/>
            <a:ext cx="3168352" cy="2247634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Прямоугольник 1"/>
          <p:cNvSpPr/>
          <p:nvPr/>
        </p:nvSpPr>
        <p:spPr>
          <a:xfrm>
            <a:off x="5879976" y="4606096"/>
            <a:ext cx="5328592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 smtClean="0"/>
              <a:t>К </a:t>
            </a:r>
            <a:r>
              <a:rPr lang="ru-RU" sz="2000" dirty="0"/>
              <a:t>одному тегу могут применятся сразу несколько правил, эти правила могут противоречить друг </a:t>
            </a:r>
            <a:r>
              <a:rPr lang="ru-RU" sz="2000" dirty="0" smtClean="0"/>
              <a:t>другу, этот вопрос мы разберём детально вместе с вопросом селекторов.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3575556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0" b="1" dirty="0"/>
              <a:t>7</a:t>
            </a:r>
            <a:r>
              <a:rPr lang="ru-RU" sz="8000" b="1" dirty="0" smtClean="0"/>
              <a:t>. Текст и шрифт</a:t>
            </a:r>
            <a:endParaRPr lang="ru-RU" sz="8000" b="1" dirty="0"/>
          </a:p>
        </p:txBody>
      </p:sp>
    </p:spTree>
    <p:extLst>
      <p:ext uri="{BB962C8B-B14F-4D97-AF65-F5344CB8AC3E}">
        <p14:creationId xmlns:p14="http://schemas.microsoft.com/office/powerpoint/2010/main" val="1482968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designtalk.club/wp-content/uploads/2016/11/typography-1280x800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15"/>
          <a:stretch/>
        </p:blipFill>
        <p:spPr bwMode="auto">
          <a:xfrm>
            <a:off x="0" y="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46519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36"/>
          <p:cNvSpPr txBox="1">
            <a:spLocks/>
          </p:cNvSpPr>
          <p:nvPr/>
        </p:nvSpPr>
        <p:spPr>
          <a:xfrm>
            <a:off x="11136560" y="6237312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>
            <a:defPPr>
              <a:defRPr lang="uk-UA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22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41685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b="1" dirty="0"/>
              <a:t>Базовая классификация шрифтов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9376" y="4797152"/>
            <a:ext cx="113772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smtClean="0"/>
              <a:t>Serif</a:t>
            </a:r>
            <a:r>
              <a:rPr lang="en-US" sz="2800" dirty="0" smtClean="0"/>
              <a:t> –</a:t>
            </a:r>
            <a:r>
              <a:rPr lang="ru-RU" sz="2800" dirty="0" smtClean="0"/>
              <a:t> шрифты с засечками (также известны как </a:t>
            </a:r>
            <a:r>
              <a:rPr lang="en-US" sz="2800" dirty="0" smtClean="0"/>
              <a:t>Antiqua</a:t>
            </a:r>
            <a:r>
              <a:rPr lang="ru-RU" sz="2800" dirty="0" smtClean="0"/>
              <a:t>), </a:t>
            </a:r>
            <a:endParaRPr lang="en-US" sz="2800" dirty="0" smtClean="0"/>
          </a:p>
          <a:p>
            <a:pPr algn="ctr"/>
            <a:r>
              <a:rPr lang="en-US" sz="2800" b="1" dirty="0" smtClean="0"/>
              <a:t>Sans </a:t>
            </a:r>
            <a:r>
              <a:rPr lang="en-US" sz="2800" b="1" dirty="0"/>
              <a:t>Serif </a:t>
            </a:r>
            <a:r>
              <a:rPr lang="en-US" sz="2800" dirty="0"/>
              <a:t>– </a:t>
            </a:r>
            <a:r>
              <a:rPr lang="ru-RU" sz="2800" dirty="0"/>
              <a:t>шрифты без </a:t>
            </a:r>
            <a:r>
              <a:rPr lang="ru-RU" sz="2800" dirty="0" smtClean="0"/>
              <a:t>засечек</a:t>
            </a:r>
            <a:r>
              <a:rPr lang="en-US" sz="2800" dirty="0" smtClean="0"/>
              <a:t> (</a:t>
            </a:r>
            <a:r>
              <a:rPr lang="ru-RU" sz="2800" dirty="0" smtClean="0"/>
              <a:t>также известны как </a:t>
            </a:r>
            <a:r>
              <a:rPr lang="en-US" sz="2800" dirty="0" smtClean="0"/>
              <a:t>Grotesque)</a:t>
            </a:r>
            <a:endParaRPr lang="ru-RU" sz="2800" dirty="0"/>
          </a:p>
        </p:txBody>
      </p:sp>
      <p:sp>
        <p:nvSpPr>
          <p:cNvPr id="2" name="TextBox 1"/>
          <p:cNvSpPr txBox="1"/>
          <p:nvPr/>
        </p:nvSpPr>
        <p:spPr>
          <a:xfrm>
            <a:off x="466668" y="1998537"/>
            <a:ext cx="3397084" cy="15081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SERIF</a:t>
            </a:r>
            <a:endParaRPr lang="uk-UA" sz="9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4655840" y="1998537"/>
            <a:ext cx="7201010" cy="150810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200" dirty="0" smtClean="0">
                <a:latin typeface="Arial" panose="020B0604020202020204" pitchFamily="34" charset="0"/>
                <a:cs typeface="Arial" panose="020B0604020202020204" pitchFamily="34" charset="0"/>
              </a:rPr>
              <a:t>SANS SERIF</a:t>
            </a:r>
            <a:endParaRPr lang="uk-UA" sz="9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4280906" y="1844824"/>
            <a:ext cx="14894" cy="180020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21961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36"/>
          <p:cNvSpPr txBox="1">
            <a:spLocks/>
          </p:cNvSpPr>
          <p:nvPr/>
        </p:nvSpPr>
        <p:spPr>
          <a:xfrm>
            <a:off x="11280576" y="6130804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>
            <a:defPPr>
              <a:defRPr lang="uk-UA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23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29516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b="1" dirty="0" smtClean="0"/>
              <a:t>О шрифтах, вебе и экранах</a:t>
            </a:r>
            <a:endParaRPr lang="ru-RU" sz="4000" b="1" dirty="0"/>
          </a:p>
        </p:txBody>
      </p:sp>
      <p:pic>
        <p:nvPicPr>
          <p:cNvPr id="6146" name="Picture 2" descr="https://www.originalam.net/img/pages/1200dpi_printing_zoom1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756" b="10885"/>
          <a:stretch/>
        </p:blipFill>
        <p:spPr bwMode="auto">
          <a:xfrm>
            <a:off x="1343472" y="1556792"/>
            <a:ext cx="9505056" cy="45345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38211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36"/>
          <p:cNvSpPr txBox="1">
            <a:spLocks/>
          </p:cNvSpPr>
          <p:nvPr/>
        </p:nvSpPr>
        <p:spPr>
          <a:xfrm>
            <a:off x="11280576" y="6130804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>
            <a:defPPr>
              <a:defRPr lang="uk-UA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24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41685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b="1" dirty="0" smtClean="0"/>
              <a:t>Задание оформления текста средствами </a:t>
            </a:r>
            <a:r>
              <a:rPr lang="en-US" sz="4000" b="1" dirty="0" smtClean="0"/>
              <a:t>CSS</a:t>
            </a:r>
            <a:endParaRPr lang="ru-RU" sz="4000" b="1" dirty="0"/>
          </a:p>
        </p:txBody>
      </p:sp>
      <p:sp>
        <p:nvSpPr>
          <p:cNvPr id="7" name="TextBox 6"/>
          <p:cNvSpPr txBox="1"/>
          <p:nvPr/>
        </p:nvSpPr>
        <p:spPr>
          <a:xfrm>
            <a:off x="839416" y="4409817"/>
            <a:ext cx="1036915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При помощи свойства </a:t>
            </a:r>
            <a:r>
              <a:rPr lang="en-US" sz="2000" b="1" dirty="0" smtClean="0">
                <a:solidFill>
                  <a:srgbClr val="00B050"/>
                </a:solidFill>
              </a:rPr>
              <a:t>font-family</a:t>
            </a:r>
            <a:r>
              <a:rPr lang="en-US" sz="2000" dirty="0" smtClean="0"/>
              <a:t> </a:t>
            </a:r>
            <a:r>
              <a:rPr lang="ru-RU" sz="2000" dirty="0" smtClean="0"/>
              <a:t>мы можем задать используемый шрифт (несколько в качестве резервных). Также есть возможность при помощи свойств</a:t>
            </a:r>
            <a:r>
              <a:rPr lang="en-US" sz="2000" dirty="0" smtClean="0"/>
              <a:t> </a:t>
            </a:r>
            <a:r>
              <a:rPr lang="en-US" sz="2000" b="1" dirty="0" smtClean="0"/>
              <a:t>font-style</a:t>
            </a:r>
            <a:r>
              <a:rPr lang="en-US" sz="2000" dirty="0" smtClean="0"/>
              <a:t>,</a:t>
            </a:r>
            <a:r>
              <a:rPr lang="en-US" sz="2000" b="1" dirty="0" smtClean="0"/>
              <a:t> font-weight</a:t>
            </a:r>
            <a:r>
              <a:rPr lang="en-US" sz="2000" dirty="0" smtClean="0"/>
              <a:t>,</a:t>
            </a:r>
            <a:r>
              <a:rPr lang="en-US" sz="2000" b="1" dirty="0" smtClean="0"/>
              <a:t> font-size</a:t>
            </a:r>
            <a:r>
              <a:rPr lang="en-US" sz="2000" dirty="0" smtClean="0"/>
              <a:t>,</a:t>
            </a:r>
            <a:r>
              <a:rPr lang="en-US" sz="2000" b="1" dirty="0" smtClean="0"/>
              <a:t> line-height </a:t>
            </a:r>
            <a:r>
              <a:rPr lang="ru-RU" sz="2000" dirty="0" smtClean="0"/>
              <a:t>(и других) задать внешний вид шрифта. Либо же можно воспользоваться универсальным свойством </a:t>
            </a:r>
            <a:r>
              <a:rPr lang="en-US" sz="2000" b="1" dirty="0" smtClean="0">
                <a:solidFill>
                  <a:schemeClr val="accent6">
                    <a:lumMod val="75000"/>
                  </a:schemeClr>
                </a:solidFill>
              </a:rPr>
              <a:t>font</a:t>
            </a:r>
            <a:r>
              <a:rPr lang="en-US" sz="2000" dirty="0" smtClean="0"/>
              <a:t>. </a:t>
            </a:r>
            <a:endParaRPr lang="uk-UA" sz="2000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08" y="1556792"/>
            <a:ext cx="10730491" cy="2688937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0" y="5949280"/>
            <a:ext cx="121920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hlinkClick r:id="rId3"/>
              </a:rPr>
              <a:t>https://</a:t>
            </a:r>
            <a:r>
              <a:rPr lang="ru-RU" sz="3200" b="1" dirty="0" smtClean="0">
                <a:hlinkClick r:id="rId3"/>
              </a:rPr>
              <a:t>webref.ru/css/type/text</a:t>
            </a:r>
            <a:endParaRPr lang="ru-RU" sz="3200" b="1" dirty="0"/>
          </a:p>
        </p:txBody>
      </p:sp>
    </p:spTree>
    <p:extLst>
      <p:ext uri="{BB962C8B-B14F-4D97-AF65-F5344CB8AC3E}">
        <p14:creationId xmlns:p14="http://schemas.microsoft.com/office/powerpoint/2010/main" val="2571680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b="1" dirty="0"/>
              <a:t>8</a:t>
            </a:r>
            <a:r>
              <a:rPr lang="en-US" sz="6000" b="1" dirty="0" smtClean="0"/>
              <a:t>. </a:t>
            </a:r>
            <a:r>
              <a:rPr lang="ru-RU" sz="6000" b="1" dirty="0" smtClean="0"/>
              <a:t>Задание размеров</a:t>
            </a:r>
            <a:endParaRPr 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5742592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Номер слайда 36"/>
          <p:cNvSpPr txBox="1">
            <a:spLocks/>
          </p:cNvSpPr>
          <p:nvPr/>
        </p:nvSpPr>
        <p:spPr>
          <a:xfrm>
            <a:off x="11208568" y="6128736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/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26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3392" y="1842933"/>
            <a:ext cx="6245819" cy="38483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TextBox 11"/>
          <p:cNvSpPr txBox="1"/>
          <p:nvPr/>
        </p:nvSpPr>
        <p:spPr>
          <a:xfrm>
            <a:off x="7352085" y="2060848"/>
            <a:ext cx="4720579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CSS Box Model </a:t>
            </a:r>
            <a:r>
              <a:rPr lang="en-US" sz="3200" dirty="0" smtClean="0"/>
              <a:t>–</a:t>
            </a:r>
            <a:r>
              <a:rPr lang="ru-RU" sz="3200" dirty="0" smtClean="0"/>
              <a:t> группа стилевых свойств</a:t>
            </a:r>
            <a:r>
              <a:rPr lang="en-US" sz="3200" dirty="0" smtClean="0"/>
              <a:t> </a:t>
            </a:r>
            <a:r>
              <a:rPr lang="ru-RU" sz="3200" dirty="0" smtClean="0"/>
              <a:t>описывающих размерности элемента</a:t>
            </a:r>
            <a:endParaRPr lang="ru-RU" sz="3200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7283685" y="4354525"/>
            <a:ext cx="37602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>
                <a:hlinkClick r:id="rId3"/>
              </a:rPr>
              <a:t>https://webref.ru/css/type/size</a:t>
            </a:r>
            <a:endParaRPr lang="uk-UA" b="1" dirty="0"/>
          </a:p>
        </p:txBody>
      </p:sp>
      <p:sp>
        <p:nvSpPr>
          <p:cNvPr id="9" name="TextBox 8"/>
          <p:cNvSpPr txBox="1"/>
          <p:nvPr/>
        </p:nvSpPr>
        <p:spPr>
          <a:xfrm>
            <a:off x="1" y="40466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/>
              <a:t>CSS Box Model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7283685" y="4706918"/>
            <a:ext cx="41409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>
                <a:hlinkClick r:id="rId4"/>
              </a:rPr>
              <a:t>https://webref.ru/css/type/margin</a:t>
            </a:r>
            <a:endParaRPr lang="uk-UA" b="1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7283685" y="5106785"/>
            <a:ext cx="41409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>
                <a:hlinkClick r:id="rId5"/>
              </a:rPr>
              <a:t>https://webref.ru/css/type/</a:t>
            </a:r>
            <a:r>
              <a:rPr lang="en-US" b="1" dirty="0">
                <a:hlinkClick r:id="rId5"/>
              </a:rPr>
              <a:t>padding</a:t>
            </a:r>
            <a:endParaRPr lang="uk-UA" b="1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7283684" y="5506653"/>
            <a:ext cx="41409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>
                <a:hlinkClick r:id="rId6"/>
              </a:rPr>
              <a:t>https://</a:t>
            </a:r>
            <a:r>
              <a:rPr lang="uk-UA" b="1" dirty="0" smtClean="0">
                <a:hlinkClick r:id="rId6"/>
              </a:rPr>
              <a:t>webref.ru/css/type/</a:t>
            </a:r>
            <a:r>
              <a:rPr lang="en-US" b="1" dirty="0" smtClean="0">
                <a:hlinkClick r:id="rId6"/>
              </a:rPr>
              <a:t>border</a:t>
            </a:r>
            <a:endParaRPr lang="uk-UA" b="1" dirty="0"/>
          </a:p>
        </p:txBody>
      </p:sp>
    </p:spTree>
    <p:extLst>
      <p:ext uri="{BB962C8B-B14F-4D97-AF65-F5344CB8AC3E}">
        <p14:creationId xmlns:p14="http://schemas.microsoft.com/office/powerpoint/2010/main" val="1391319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 36"/>
          <p:cNvSpPr txBox="1">
            <a:spLocks/>
          </p:cNvSpPr>
          <p:nvPr/>
        </p:nvSpPr>
        <p:spPr>
          <a:xfrm>
            <a:off x="11208568" y="6165304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/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27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262389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CSS Box Model</a:t>
            </a:r>
          </a:p>
        </p:txBody>
      </p:sp>
      <p:sp>
        <p:nvSpPr>
          <p:cNvPr id="6" name="Левая фигурная скобка 5"/>
          <p:cNvSpPr/>
          <p:nvPr/>
        </p:nvSpPr>
        <p:spPr>
          <a:xfrm>
            <a:off x="2711624" y="1027224"/>
            <a:ext cx="864096" cy="1944216"/>
          </a:xfrm>
          <a:prstGeom prst="leftBrac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407368" y="1721271"/>
            <a:ext cx="23075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margin: 10px; </a:t>
            </a:r>
            <a:endParaRPr lang="ru-RU" sz="2800" b="1" dirty="0"/>
          </a:p>
        </p:txBody>
      </p:sp>
      <p:sp>
        <p:nvSpPr>
          <p:cNvPr id="8" name="TextBox 7"/>
          <p:cNvSpPr txBox="1"/>
          <p:nvPr/>
        </p:nvSpPr>
        <p:spPr>
          <a:xfrm>
            <a:off x="3503712" y="1060016"/>
            <a:ext cx="344754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margin-top: 10px;</a:t>
            </a:r>
          </a:p>
          <a:p>
            <a:r>
              <a:rPr lang="en-US" sz="2800" b="1" dirty="0"/>
              <a:t>margin-right: 10px;</a:t>
            </a:r>
          </a:p>
          <a:p>
            <a:r>
              <a:rPr lang="en-US" sz="2800" b="1" dirty="0"/>
              <a:t>margin-bottom: 10px;</a:t>
            </a:r>
          </a:p>
          <a:p>
            <a:r>
              <a:rPr lang="en-US" sz="2800" b="1" dirty="0"/>
              <a:t>margin-left: 10px;</a:t>
            </a:r>
            <a:endParaRPr lang="ru-RU" sz="2800" b="1" dirty="0"/>
          </a:p>
        </p:txBody>
      </p:sp>
      <p:sp>
        <p:nvSpPr>
          <p:cNvPr id="9" name="TextBox 8"/>
          <p:cNvSpPr txBox="1"/>
          <p:nvPr/>
        </p:nvSpPr>
        <p:spPr>
          <a:xfrm>
            <a:off x="7464152" y="1124744"/>
            <a:ext cx="4464496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/>
              <a:t>Отступы</a:t>
            </a:r>
            <a:r>
              <a:rPr lang="en-US" sz="2200" dirty="0"/>
              <a:t> (</a:t>
            </a:r>
            <a:r>
              <a:rPr lang="ru-RU" sz="2200" dirty="0"/>
              <a:t>как </a:t>
            </a:r>
            <a:r>
              <a:rPr lang="en-US" sz="2200" b="1" dirty="0"/>
              <a:t>padding</a:t>
            </a:r>
            <a:r>
              <a:rPr lang="en-US" sz="2200" dirty="0"/>
              <a:t> </a:t>
            </a:r>
            <a:r>
              <a:rPr lang="ru-RU" sz="2200" dirty="0"/>
              <a:t>так и </a:t>
            </a:r>
            <a:r>
              <a:rPr lang="en-US" sz="2200" b="1" dirty="0"/>
              <a:t>margin</a:t>
            </a:r>
            <a:r>
              <a:rPr lang="en-US" sz="2200" dirty="0"/>
              <a:t>)</a:t>
            </a:r>
            <a:r>
              <a:rPr lang="ru-RU" sz="2200" dirty="0"/>
              <a:t> можно задать для каждой стороны в отдельности</a:t>
            </a:r>
            <a:r>
              <a:rPr lang="en-US" sz="2200" dirty="0"/>
              <a:t>. </a:t>
            </a:r>
            <a:r>
              <a:rPr lang="ru-RU" sz="2200" dirty="0"/>
              <a:t>Свойство </a:t>
            </a:r>
            <a:r>
              <a:rPr lang="en-US" sz="2200" b="1" dirty="0"/>
              <a:t>border</a:t>
            </a:r>
            <a:r>
              <a:rPr lang="en-US" sz="2200" dirty="0"/>
              <a:t> </a:t>
            </a:r>
            <a:r>
              <a:rPr lang="ru-RU" sz="2200" dirty="0"/>
              <a:t>также возможно установить для каждой стороны отдельно</a:t>
            </a:r>
            <a:r>
              <a:rPr lang="ru-RU" sz="2200" dirty="0" smtClean="0"/>
              <a:t>.</a:t>
            </a:r>
            <a:r>
              <a:rPr lang="en-US" sz="2200" dirty="0" smtClean="0"/>
              <a:t> </a:t>
            </a:r>
            <a:r>
              <a:rPr lang="ru-RU" sz="2200" dirty="0" smtClean="0"/>
              <a:t>Есть возможность задать сразу четыре значения через пробел (</a:t>
            </a:r>
            <a:r>
              <a:rPr lang="en-US" sz="2200" b="1" dirty="0" smtClean="0"/>
              <a:t>top, right, bottom, left</a:t>
            </a:r>
            <a:r>
              <a:rPr lang="ru-RU" sz="2200" dirty="0" smtClean="0"/>
              <a:t>)</a:t>
            </a:r>
            <a:r>
              <a:rPr lang="en-US" sz="2200" dirty="0" smtClean="0"/>
              <a:t>. </a:t>
            </a:r>
            <a:r>
              <a:rPr lang="ru-RU" sz="2200" dirty="0" smtClean="0"/>
              <a:t>А также для левого и правого отступа </a:t>
            </a:r>
            <a:r>
              <a:rPr lang="en-US" sz="2200" dirty="0" smtClean="0"/>
              <a:t>margin </a:t>
            </a:r>
            <a:r>
              <a:rPr lang="ru-RU" sz="2200" dirty="0" smtClean="0"/>
              <a:t>есть возможность задать автоматических расчёт отступов при помощи значения </a:t>
            </a:r>
            <a:r>
              <a:rPr lang="en-US" sz="2200" b="1" dirty="0" smtClean="0">
                <a:solidFill>
                  <a:schemeClr val="accent6">
                    <a:lumMod val="75000"/>
                  </a:schemeClr>
                </a:solidFill>
              </a:rPr>
              <a:t>auto</a:t>
            </a:r>
            <a:r>
              <a:rPr lang="en-US" sz="2200" dirty="0" smtClean="0"/>
              <a:t>.</a:t>
            </a:r>
            <a:endParaRPr lang="ru-RU" sz="2200" dirty="0"/>
          </a:p>
        </p:txBody>
      </p:sp>
      <p:sp>
        <p:nvSpPr>
          <p:cNvPr id="13" name="Левая фигурная скобка 12"/>
          <p:cNvSpPr/>
          <p:nvPr/>
        </p:nvSpPr>
        <p:spPr>
          <a:xfrm>
            <a:off x="3383925" y="3717032"/>
            <a:ext cx="864096" cy="1944216"/>
          </a:xfrm>
          <a:prstGeom prst="leftBrac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35360" y="4504474"/>
            <a:ext cx="3082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margin: </a:t>
            </a:r>
            <a:r>
              <a:rPr lang="en-US" b="1" dirty="0" smtClean="0"/>
              <a:t>10px 20px 30px 40px; </a:t>
            </a:r>
            <a:endParaRPr lang="ru-RU" b="1" dirty="0"/>
          </a:p>
        </p:txBody>
      </p:sp>
      <p:sp>
        <p:nvSpPr>
          <p:cNvPr id="15" name="TextBox 14"/>
          <p:cNvSpPr txBox="1"/>
          <p:nvPr/>
        </p:nvSpPr>
        <p:spPr>
          <a:xfrm>
            <a:off x="4096309" y="3920276"/>
            <a:ext cx="29773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margin-top: 10px;</a:t>
            </a:r>
          </a:p>
          <a:p>
            <a:r>
              <a:rPr lang="en-US" sz="2400" b="1" dirty="0"/>
              <a:t>margin-right: </a:t>
            </a:r>
            <a:r>
              <a:rPr lang="en-US" sz="2400" b="1" dirty="0" smtClean="0"/>
              <a:t>20px</a:t>
            </a:r>
            <a:r>
              <a:rPr lang="en-US" sz="2400" b="1" dirty="0"/>
              <a:t>;</a:t>
            </a:r>
          </a:p>
          <a:p>
            <a:r>
              <a:rPr lang="en-US" sz="2400" b="1" dirty="0"/>
              <a:t>margin-bottom: </a:t>
            </a:r>
            <a:r>
              <a:rPr lang="en-US" sz="2400" b="1" dirty="0" smtClean="0"/>
              <a:t>30px</a:t>
            </a:r>
            <a:r>
              <a:rPr lang="en-US" sz="2400" b="1" dirty="0"/>
              <a:t>;</a:t>
            </a:r>
          </a:p>
          <a:p>
            <a:r>
              <a:rPr lang="en-US" sz="2400" b="1" dirty="0"/>
              <a:t>margin-left: </a:t>
            </a:r>
            <a:r>
              <a:rPr lang="en-US" sz="2400" b="1" dirty="0" smtClean="0"/>
              <a:t>40px</a:t>
            </a:r>
            <a:r>
              <a:rPr lang="en-US" sz="2400" b="1" dirty="0"/>
              <a:t>;</a:t>
            </a:r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12910966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36"/>
          <p:cNvSpPr txBox="1">
            <a:spLocks/>
          </p:cNvSpPr>
          <p:nvPr/>
        </p:nvSpPr>
        <p:spPr>
          <a:xfrm>
            <a:off x="11136560" y="6165304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/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28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25193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b="1" dirty="0" err="1" smtClean="0"/>
              <a:t>Скругление</a:t>
            </a:r>
            <a:r>
              <a:rPr lang="ru-RU" sz="3600" b="1" dirty="0" smtClean="0"/>
              <a:t> углов и тень от блока</a:t>
            </a:r>
            <a:endParaRPr lang="en-US" sz="3600" b="1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937" y="1370479"/>
            <a:ext cx="3743325" cy="276225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Прямоугольник 5"/>
          <p:cNvSpPr/>
          <p:nvPr/>
        </p:nvSpPr>
        <p:spPr>
          <a:xfrm>
            <a:off x="1230885" y="5405538"/>
            <a:ext cx="36429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hlinkClick r:id="rId3"/>
              </a:rPr>
              <a:t>https://</a:t>
            </a:r>
            <a:r>
              <a:rPr lang="en-US" b="1" dirty="0" smtClean="0">
                <a:hlinkClick r:id="rId3"/>
              </a:rPr>
              <a:t>webref.ru/css/border-radius</a:t>
            </a:r>
            <a:endParaRPr lang="uk-UA" b="1" dirty="0"/>
          </a:p>
        </p:txBody>
      </p:sp>
      <p:sp>
        <p:nvSpPr>
          <p:cNvPr id="12" name="Прямоугольник 11"/>
          <p:cNvSpPr/>
          <p:nvPr/>
        </p:nvSpPr>
        <p:spPr>
          <a:xfrm>
            <a:off x="1230885" y="4790282"/>
            <a:ext cx="35062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hlinkClick r:id="rId4"/>
              </a:rPr>
              <a:t>https://webref.ru/css/box-shadow</a:t>
            </a:r>
            <a:endParaRPr lang="uk-UA" b="1" dirty="0"/>
          </a:p>
        </p:txBody>
      </p:sp>
      <p:sp>
        <p:nvSpPr>
          <p:cNvPr id="13" name="TextBox 12"/>
          <p:cNvSpPr txBox="1"/>
          <p:nvPr/>
        </p:nvSpPr>
        <p:spPr>
          <a:xfrm>
            <a:off x="5591944" y="1455073"/>
            <a:ext cx="604867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/>
              <a:t>Свойство </a:t>
            </a:r>
            <a:r>
              <a:rPr lang="en-US" sz="2800" b="1" dirty="0" smtClean="0">
                <a:solidFill>
                  <a:srgbClr val="7030A0"/>
                </a:solidFill>
              </a:rPr>
              <a:t>border-radius</a:t>
            </a:r>
            <a:r>
              <a:rPr lang="en-US" sz="2800" dirty="0" smtClean="0"/>
              <a:t> </a:t>
            </a:r>
            <a:r>
              <a:rPr lang="ru-RU" sz="2800" dirty="0" smtClean="0"/>
              <a:t>позволяет задать радиус округления уголков рамки.</a:t>
            </a:r>
            <a:r>
              <a:rPr lang="en-US" sz="2800" dirty="0" smtClean="0"/>
              <a:t> </a:t>
            </a:r>
            <a:r>
              <a:rPr lang="ru-RU" sz="2800" dirty="0" smtClean="0"/>
              <a:t>Свойство </a:t>
            </a:r>
            <a:r>
              <a:rPr lang="en-US" sz="2800" b="1" dirty="0" smtClean="0">
                <a:solidFill>
                  <a:srgbClr val="00B050"/>
                </a:solidFill>
              </a:rPr>
              <a:t>box-shadow</a:t>
            </a:r>
            <a:r>
              <a:rPr lang="en-US" sz="2800" dirty="0" smtClean="0"/>
              <a:t> </a:t>
            </a:r>
            <a:r>
              <a:rPr lang="ru-RU" sz="2800" dirty="0" smtClean="0"/>
              <a:t>позволяет задать отбрасывание тени блоком, набор параметров аналогичен свойству </a:t>
            </a:r>
            <a:r>
              <a:rPr lang="en-US" sz="2800" b="1" dirty="0" smtClean="0">
                <a:solidFill>
                  <a:schemeClr val="accent5">
                    <a:lumMod val="75000"/>
                  </a:schemeClr>
                </a:solidFill>
              </a:rPr>
              <a:t>text-shadow</a:t>
            </a:r>
            <a:r>
              <a:rPr lang="en-US" sz="2800" dirty="0" smtClean="0"/>
              <a:t>.</a:t>
            </a:r>
            <a:endParaRPr lang="uk-UA" sz="2800" dirty="0"/>
          </a:p>
        </p:txBody>
      </p:sp>
    </p:spTree>
    <p:extLst>
      <p:ext uri="{BB962C8B-B14F-4D97-AF65-F5344CB8AC3E}">
        <p14:creationId xmlns:p14="http://schemas.microsoft.com/office/powerpoint/2010/main" val="5861396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0" y="262390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CSS </a:t>
            </a:r>
            <a:r>
              <a:rPr lang="ru-RU" sz="3600" b="1" dirty="0"/>
              <a:t>пиксель</a:t>
            </a:r>
            <a:r>
              <a:rPr lang="ru-RU" sz="3600" b="1" dirty="0">
                <a:solidFill>
                  <a:srgbClr val="FF0000"/>
                </a:solidFill>
              </a:rPr>
              <a:t> ≠ </a:t>
            </a:r>
            <a:r>
              <a:rPr lang="ru-RU" sz="3600" b="1" dirty="0"/>
              <a:t>Физический пиксель </a:t>
            </a:r>
          </a:p>
        </p:txBody>
      </p:sp>
      <p:pic>
        <p:nvPicPr>
          <p:cNvPr id="1026" name="Picture 2" descr="http://www.getgrawlix.com/blog_content/tips-to-optimize-graphics/Using-hardware-pixels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96" y="971612"/>
            <a:ext cx="6931000" cy="34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://www.getgrawlix.com/blog_content/tips-to-optimize-graphics/Using-reference-pixels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1177" y="3717032"/>
            <a:ext cx="6281935" cy="3140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51675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Номер слайда 36"/>
          <p:cNvSpPr txBox="1">
            <a:spLocks/>
          </p:cNvSpPr>
          <p:nvPr/>
        </p:nvSpPr>
        <p:spPr>
          <a:xfrm>
            <a:off x="11280576" y="6165305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/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30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478413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CSS </a:t>
            </a:r>
            <a:r>
              <a:rPr lang="ru-RU" sz="3600" b="1" dirty="0"/>
              <a:t>пиксель</a:t>
            </a:r>
            <a:r>
              <a:rPr lang="ru-RU" sz="3600" b="1" dirty="0">
                <a:solidFill>
                  <a:srgbClr val="FF0000"/>
                </a:solidFill>
              </a:rPr>
              <a:t> ≠ </a:t>
            </a:r>
            <a:r>
              <a:rPr lang="ru-RU" sz="3600" b="1" dirty="0"/>
              <a:t>Физический пиксель 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170" y="1459126"/>
            <a:ext cx="6457950" cy="3962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20136" y="1966188"/>
            <a:ext cx="403244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CSS </a:t>
            </a:r>
            <a:r>
              <a:rPr lang="ru-RU" sz="2400" b="1" dirty="0"/>
              <a:t>пиксель </a:t>
            </a:r>
            <a:r>
              <a:rPr lang="ru-RU" sz="2400" dirty="0"/>
              <a:t>– размер </a:t>
            </a:r>
            <a:r>
              <a:rPr lang="ru-RU" sz="2400" dirty="0" smtClean="0"/>
              <a:t>точки соответствующий плотности </a:t>
            </a:r>
            <a:r>
              <a:rPr lang="en-US" sz="2400" b="1" dirty="0" smtClean="0"/>
              <a:t>~ </a:t>
            </a:r>
            <a:r>
              <a:rPr lang="ru-RU" sz="2400" b="1" dirty="0" smtClean="0"/>
              <a:t>1/</a:t>
            </a:r>
            <a:r>
              <a:rPr lang="en-US" sz="2400" b="1" dirty="0" smtClean="0"/>
              <a:t>96 </a:t>
            </a:r>
            <a:r>
              <a:rPr lang="ru-RU" sz="2400" dirty="0" smtClean="0"/>
              <a:t>дюйма. </a:t>
            </a:r>
            <a:r>
              <a:rPr lang="ru-RU" sz="2400" dirty="0"/>
              <a:t>Сколько физических пикселей используется для от рисовки одного </a:t>
            </a:r>
            <a:r>
              <a:rPr lang="en-US" sz="2400" b="1" dirty="0"/>
              <a:t>CSS </a:t>
            </a:r>
            <a:r>
              <a:rPr lang="ru-RU" sz="2400" b="1" dirty="0"/>
              <a:t>пикселя</a:t>
            </a:r>
            <a:r>
              <a:rPr lang="ru-RU" sz="2400" dirty="0"/>
              <a:t> зависит </a:t>
            </a:r>
            <a:r>
              <a:rPr lang="ru-RU" sz="2400" dirty="0" smtClean="0"/>
              <a:t>от физического разрешения </a:t>
            </a:r>
            <a:r>
              <a:rPr lang="ru-RU" sz="2400" dirty="0"/>
              <a:t>конкретного </a:t>
            </a:r>
            <a:r>
              <a:rPr lang="ru-RU" sz="2400" dirty="0" smtClean="0"/>
              <a:t>экрана.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145411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Номер слайда 36"/>
          <p:cNvSpPr txBox="1">
            <a:spLocks/>
          </p:cNvSpPr>
          <p:nvPr/>
        </p:nvSpPr>
        <p:spPr>
          <a:xfrm>
            <a:off x="11208568" y="6165304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/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31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262390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CSS </a:t>
            </a:r>
            <a:r>
              <a:rPr lang="ru-RU" sz="3600" b="1" dirty="0"/>
              <a:t>пиксель</a:t>
            </a:r>
            <a:r>
              <a:rPr lang="ru-RU" sz="3600" b="1" dirty="0">
                <a:solidFill>
                  <a:srgbClr val="FF0000"/>
                </a:solidFill>
              </a:rPr>
              <a:t> ≠ </a:t>
            </a:r>
            <a:r>
              <a:rPr lang="ru-RU" sz="3600" b="1" dirty="0"/>
              <a:t>Физический пиксель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20136" y="1916832"/>
            <a:ext cx="403244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CSS </a:t>
            </a:r>
            <a:r>
              <a:rPr lang="ru-RU" sz="2400" b="1" dirty="0"/>
              <a:t>пиксель </a:t>
            </a:r>
            <a:r>
              <a:rPr lang="ru-RU" sz="2400" dirty="0"/>
              <a:t>– размер </a:t>
            </a:r>
            <a:r>
              <a:rPr lang="ru-RU" sz="2400" dirty="0" smtClean="0"/>
              <a:t>точки условно соответствующий </a:t>
            </a:r>
            <a:r>
              <a:rPr lang="en-US" sz="2400" b="1" dirty="0"/>
              <a:t>~ </a:t>
            </a:r>
            <a:r>
              <a:rPr lang="ru-RU" sz="2400" b="1" dirty="0" smtClean="0"/>
              <a:t>1/</a:t>
            </a:r>
            <a:r>
              <a:rPr lang="en-US" sz="2400" b="1" dirty="0" smtClean="0"/>
              <a:t>96 </a:t>
            </a:r>
            <a:r>
              <a:rPr lang="ru-RU" sz="2400" dirty="0" smtClean="0"/>
              <a:t>дюйма. </a:t>
            </a:r>
            <a:r>
              <a:rPr lang="ru-RU" sz="2400" dirty="0"/>
              <a:t>Сколько физических пикселей используется для от рисовки одного </a:t>
            </a:r>
            <a:r>
              <a:rPr lang="en-US" sz="2400" b="1" dirty="0"/>
              <a:t>CSS </a:t>
            </a:r>
            <a:r>
              <a:rPr lang="ru-RU" sz="2400" b="1" dirty="0"/>
              <a:t>пикселя</a:t>
            </a:r>
            <a:r>
              <a:rPr lang="ru-RU" sz="2400" dirty="0"/>
              <a:t> зависит </a:t>
            </a:r>
            <a:r>
              <a:rPr lang="ru-RU" sz="2400" dirty="0" smtClean="0"/>
              <a:t>от физического разрешения </a:t>
            </a:r>
            <a:r>
              <a:rPr lang="ru-RU" sz="2400" dirty="0"/>
              <a:t>конкретного </a:t>
            </a:r>
            <a:r>
              <a:rPr lang="ru-RU" sz="2400" dirty="0" smtClean="0"/>
              <a:t>экрана.</a:t>
            </a:r>
            <a:endParaRPr lang="ru-RU" sz="2400" dirty="0"/>
          </a:p>
        </p:txBody>
      </p:sp>
      <p:pic>
        <p:nvPicPr>
          <p:cNvPr id="2" name="Picture 2" descr="https://hsto.org/storage2/613/876/096/61387609681df49112c1ed2d51944439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392" y="1641113"/>
            <a:ext cx="6532978" cy="37368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96015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200" b="1" dirty="0"/>
              <a:t>9</a:t>
            </a:r>
            <a:r>
              <a:rPr lang="en-US" sz="7200" b="1" dirty="0" smtClean="0"/>
              <a:t>. </a:t>
            </a:r>
            <a:r>
              <a:rPr lang="ru-RU" sz="7200" b="1" dirty="0" err="1" smtClean="0"/>
              <a:t>Валидация</a:t>
            </a:r>
            <a:r>
              <a:rPr lang="en-US" sz="7200" b="1" dirty="0" smtClean="0"/>
              <a:t> CSS</a:t>
            </a:r>
            <a:endParaRPr lang="uk-UA" sz="2000" b="1" dirty="0"/>
          </a:p>
        </p:txBody>
      </p:sp>
    </p:spTree>
    <p:extLst>
      <p:ext uri="{BB962C8B-B14F-4D97-AF65-F5344CB8AC3E}">
        <p14:creationId xmlns:p14="http://schemas.microsoft.com/office/powerpoint/2010/main" val="24577751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91544" y="188640"/>
            <a:ext cx="828092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/>
              <a:t>Проверка страницы </a:t>
            </a:r>
            <a:r>
              <a:rPr lang="ru-RU" sz="3200" b="1"/>
              <a:t>на соответствие </a:t>
            </a:r>
            <a:r>
              <a:rPr lang="ru-RU" sz="3200" b="1" dirty="0"/>
              <a:t>стандартам </a:t>
            </a:r>
            <a:r>
              <a:rPr lang="en-US" sz="3200" b="1" dirty="0"/>
              <a:t>HTML&amp;CSS</a:t>
            </a:r>
            <a:endParaRPr lang="uk-UA" sz="3200" dirty="0"/>
          </a:p>
        </p:txBody>
      </p:sp>
      <p:sp>
        <p:nvSpPr>
          <p:cNvPr id="14" name="Номер слайда 36"/>
          <p:cNvSpPr txBox="1">
            <a:spLocks/>
          </p:cNvSpPr>
          <p:nvPr/>
        </p:nvSpPr>
        <p:spPr>
          <a:xfrm>
            <a:off x="11208568" y="6088357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>
            <a:defPPr>
              <a:defRPr lang="uk-UA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33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3863752" y="6021288"/>
            <a:ext cx="481016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 smtClean="0">
                <a:hlinkClick r:id="rId2"/>
              </a:rPr>
              <a:t>https</a:t>
            </a:r>
            <a:r>
              <a:rPr lang="en-US" sz="2400" b="1" dirty="0">
                <a:hlinkClick r:id="rId2"/>
              </a:rPr>
              <a:t>://jigsaw.w3.org/css-validator/</a:t>
            </a:r>
            <a:endParaRPr lang="en-US" sz="2400" b="1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8344" y="1456556"/>
            <a:ext cx="7727320" cy="4348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9750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6600" b="1" dirty="0" smtClean="0"/>
              <a:t>Будет полезным</a:t>
            </a:r>
            <a:endParaRPr lang="uk-UA" sz="6600" b="1" dirty="0"/>
          </a:p>
        </p:txBody>
      </p:sp>
    </p:spTree>
    <p:extLst>
      <p:ext uri="{BB962C8B-B14F-4D97-AF65-F5344CB8AC3E}">
        <p14:creationId xmlns:p14="http://schemas.microsoft.com/office/powerpoint/2010/main" val="3150205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Номер слайда 36"/>
          <p:cNvSpPr txBox="1">
            <a:spLocks/>
          </p:cNvSpPr>
          <p:nvPr/>
        </p:nvSpPr>
        <p:spPr>
          <a:xfrm>
            <a:off x="11280576" y="6172760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/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35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0" y="5914147"/>
            <a:ext cx="1219199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uk-UA" sz="3600" b="1" dirty="0">
                <a:hlinkClick r:id="rId2"/>
              </a:rPr>
              <a:t>https://webref.ru/recipe</a:t>
            </a:r>
            <a:endParaRPr lang="en-US" sz="3600" b="1" dirty="0"/>
          </a:p>
        </p:txBody>
      </p:sp>
      <p:sp>
        <p:nvSpPr>
          <p:cNvPr id="13" name="TextBox 12"/>
          <p:cNvSpPr txBox="1"/>
          <p:nvPr/>
        </p:nvSpPr>
        <p:spPr>
          <a:xfrm>
            <a:off x="0" y="334397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400" b="1" dirty="0"/>
              <a:t>«</a:t>
            </a:r>
            <a:r>
              <a:rPr lang="en-US" sz="4400" b="1" dirty="0"/>
              <a:t>CSS </a:t>
            </a:r>
            <a:r>
              <a:rPr lang="ru-RU" sz="4400" b="1" dirty="0"/>
              <a:t>рецепты»</a:t>
            </a:r>
            <a:endParaRPr lang="en-US" sz="4400" b="1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300" y="1332706"/>
            <a:ext cx="8153400" cy="4400550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263040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36"/>
          <p:cNvSpPr txBox="1">
            <a:spLocks/>
          </p:cNvSpPr>
          <p:nvPr/>
        </p:nvSpPr>
        <p:spPr>
          <a:xfrm>
            <a:off x="11136560" y="6237312"/>
            <a:ext cx="648072" cy="432048"/>
          </a:xfrm>
          <a:prstGeom prst="roundRect">
            <a:avLst/>
          </a:prstGeom>
          <a:ln w="25400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/>
          <a:p>
            <a:pPr algn="ctr">
              <a:defRPr/>
            </a:pPr>
            <a:fld id="{6389AA22-90B4-448C-8B6B-C699140D38B9}" type="slidenum">
              <a:rPr lang="uk-UA" sz="2400" b="1">
                <a:solidFill>
                  <a:schemeClr val="bg1">
                    <a:lumMod val="50000"/>
                  </a:schemeClr>
                </a:solidFill>
              </a:rPr>
              <a:pPr algn="ctr">
                <a:defRPr/>
              </a:pPr>
              <a:t>36</a:t>
            </a:fld>
            <a:endParaRPr lang="uk-UA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" y="6006479"/>
            <a:ext cx="121920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hlinkClick r:id="rId2"/>
              </a:rPr>
              <a:t>https://</a:t>
            </a:r>
            <a:r>
              <a:rPr lang="en-US" sz="3200" b="1" dirty="0" smtClean="0">
                <a:hlinkClick r:id="rId2"/>
              </a:rPr>
              <a:t>www.youtube.com/watch?v=LDJMfzTlkSI</a:t>
            </a:r>
            <a:endParaRPr lang="uk-UA" sz="3200" b="1" dirty="0"/>
          </a:p>
        </p:txBody>
      </p:sp>
      <p:pic>
        <p:nvPicPr>
          <p:cNvPr id="1026" name="Picture 2" descr="https://developers.google.com/web/tools/chrome-devtools/images/panels/elements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7" t="5439" r="7863" b="12983"/>
          <a:stretch/>
        </p:blipFill>
        <p:spPr bwMode="auto">
          <a:xfrm>
            <a:off x="3287687" y="1484784"/>
            <a:ext cx="5904657" cy="432048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0" y="332128"/>
            <a:ext cx="121920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 smtClean="0"/>
              <a:t>Познавательное видео о работе с инструментами</a:t>
            </a:r>
            <a:r>
              <a:rPr lang="en-US" sz="2800" b="1" dirty="0" smtClean="0"/>
              <a:t/>
            </a:r>
            <a:br>
              <a:rPr lang="en-US" sz="2800" b="1" dirty="0" smtClean="0"/>
            </a:br>
            <a:r>
              <a:rPr lang="ru-RU" sz="2800" b="1" dirty="0" smtClean="0"/>
              <a:t> разработчика в </a:t>
            </a:r>
            <a:r>
              <a:rPr lang="en-US" sz="2800" b="1" dirty="0" smtClean="0"/>
              <a:t>Google Chrome</a:t>
            </a:r>
            <a:endParaRPr lang="uk-UA" sz="2800" b="1" dirty="0"/>
          </a:p>
        </p:txBody>
      </p:sp>
    </p:spTree>
    <p:extLst>
      <p:ext uri="{BB962C8B-B14F-4D97-AF65-F5344CB8AC3E}">
        <p14:creationId xmlns:p14="http://schemas.microsoft.com/office/powerpoint/2010/main" val="1483766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4532</TotalTime>
  <Words>954</Words>
  <Application>Microsoft Office PowerPoint</Application>
  <PresentationFormat>Широкоэкранный</PresentationFormat>
  <Paragraphs>130</Paragraphs>
  <Slides>36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36</vt:i4>
      </vt:variant>
    </vt:vector>
  </HeadingPairs>
  <TitlesOfParts>
    <vt:vector size="42" baseType="lpstr">
      <vt:lpstr>Arial</vt:lpstr>
      <vt:lpstr>Calibri</vt:lpstr>
      <vt:lpstr>Courier New</vt:lpstr>
      <vt:lpstr>Segoe UI Semibold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Вступление</dc:title>
  <dc:creator>user</dc:creator>
  <cp:lastModifiedBy>Anatoliy Kigel</cp:lastModifiedBy>
  <cp:revision>643</cp:revision>
  <dcterms:created xsi:type="dcterms:W3CDTF">2014-11-20T09:08:59Z</dcterms:created>
  <dcterms:modified xsi:type="dcterms:W3CDTF">2020-11-20T20:54:53Z</dcterms:modified>
</cp:coreProperties>
</file>