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93" r:id="rId2"/>
    <p:sldId id="294" r:id="rId3"/>
    <p:sldId id="258" r:id="rId4"/>
    <p:sldId id="259" r:id="rId5"/>
    <p:sldId id="261" r:id="rId6"/>
    <p:sldId id="323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3" r:id="rId19"/>
    <p:sldId id="272" r:id="rId20"/>
    <p:sldId id="295" r:id="rId21"/>
    <p:sldId id="297" r:id="rId22"/>
    <p:sldId id="298" r:id="rId23"/>
    <p:sldId id="306" r:id="rId24"/>
    <p:sldId id="309" r:id="rId25"/>
    <p:sldId id="314" r:id="rId26"/>
    <p:sldId id="315" r:id="rId27"/>
    <p:sldId id="316" r:id="rId28"/>
    <p:sldId id="317" r:id="rId29"/>
    <p:sldId id="318" r:id="rId30"/>
    <p:sldId id="320" r:id="rId31"/>
    <p:sldId id="321" r:id="rId32"/>
    <p:sldId id="322" r:id="rId33"/>
    <p:sldId id="282" r:id="rId34"/>
    <p:sldId id="283" r:id="rId35"/>
    <p:sldId id="284" r:id="rId36"/>
    <p:sldId id="286" r:id="rId37"/>
    <p:sldId id="287" r:id="rId3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4249FBA-80A0-4AEF-BC44-CFB583492968}">
          <p14:sldIdLst>
            <p14:sldId id="293"/>
            <p14:sldId id="294"/>
            <p14:sldId id="258"/>
            <p14:sldId id="259"/>
            <p14:sldId id="261"/>
            <p14:sldId id="323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5"/>
            <p14:sldId id="276"/>
            <p14:sldId id="273"/>
            <p14:sldId id="272"/>
            <p14:sldId id="295"/>
            <p14:sldId id="297"/>
            <p14:sldId id="298"/>
            <p14:sldId id="306"/>
            <p14:sldId id="309"/>
            <p14:sldId id="314"/>
            <p14:sldId id="315"/>
            <p14:sldId id="316"/>
            <p14:sldId id="317"/>
            <p14:sldId id="318"/>
            <p14:sldId id="320"/>
            <p14:sldId id="321"/>
            <p14:sldId id="322"/>
            <p14:sldId id="282"/>
            <p14:sldId id="283"/>
            <p14:sldId id="284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iy Kigel" initials="AK" lastIdx="0" clrIdx="0">
    <p:extLst>
      <p:ext uri="{19B8F6BF-5375-455C-9EA6-DF929625EA0E}">
        <p15:presenceInfo xmlns:p15="http://schemas.microsoft.com/office/powerpoint/2012/main" userId="7432c6c4687b0a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0" autoAdjust="0"/>
    <p:restoredTop sz="94660"/>
  </p:normalViewPr>
  <p:slideViewPr>
    <p:cSldViewPr>
      <p:cViewPr>
        <p:scale>
          <a:sx n="75" d="100"/>
          <a:sy n="75" d="100"/>
        </p:scale>
        <p:origin x="726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2811-C5C6-42D2-A409-F8556720C93F}" type="datetimeFigureOut">
              <a:rPr lang="uk-UA" smtClean="0"/>
              <a:pPr/>
              <a:t>16.11.2020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8688-711B-4328-ACFB-54B46FA90133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736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096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B0D-6115-4D7C-8040-9C8E2349BB6E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D9C5-7FF1-434F-B56E-9BAD559744E9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FC9-DE63-476B-A1A9-BE934D9049F8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460F-86E2-4DF6-9D0F-12F5005CF375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1715E-DDCD-4267-B0A5-2918B6F6768A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9842C-EB2D-4EBB-A272-2F6A49D9794D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6F091-B700-4B52-99AC-85D0FD94D904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FABA-3811-4634-B803-2EAC4CD0063B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25E-F88E-463A-A119-D1E55A881002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67BA-0A39-4DE2-BFC3-D5290044365E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6A67F-6C29-47DC-AF8A-FDB3C787DF70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ED03-0080-49A2-B709-7DA4ACB3A1C3}" type="datetime1">
              <a:rPr lang="uk-UA" smtClean="0"/>
              <a:pPr/>
              <a:t>16.11.2020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ebref.ru/css/typ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ebref.ru/css/background-image" TargetMode="External"/><Relationship Id="rId3" Type="http://schemas.openxmlformats.org/officeDocument/2006/relationships/hyperlink" Target="https://webref.ru/css/color" TargetMode="External"/><Relationship Id="rId7" Type="http://schemas.openxmlformats.org/officeDocument/2006/relationships/hyperlink" Target="https://webref.ru/css/value/radial-gradient" TargetMode="External"/><Relationship Id="rId2" Type="http://schemas.openxmlformats.org/officeDocument/2006/relationships/hyperlink" Target="https://webref.ru/css/value/col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ref.ru/css/value/linear-gradient" TargetMode="External"/><Relationship Id="rId5" Type="http://schemas.openxmlformats.org/officeDocument/2006/relationships/hyperlink" Target="https://webref.ru/css/background-color" TargetMode="External"/><Relationship Id="rId4" Type="http://schemas.openxmlformats.org/officeDocument/2006/relationships/hyperlink" Target="https://webref.ru/css/background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css/type/text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css/type/siz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ref.ru/css/type/border" TargetMode="External"/><Relationship Id="rId5" Type="http://schemas.openxmlformats.org/officeDocument/2006/relationships/hyperlink" Target="https://webref.ru/css/type/padding" TargetMode="External"/><Relationship Id="rId4" Type="http://schemas.openxmlformats.org/officeDocument/2006/relationships/hyperlink" Target="https://webref.ru/css/type/margin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css/border-radiu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ref.ru/css/box-shadow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jigsaw.w3.org/css-validator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ebref.ru/recip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LDJMfzTlkS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43335"/>
            <a:ext cx="1219200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+mj-lt"/>
              </a:rPr>
              <a:t>Web Basis</a:t>
            </a:r>
            <a:r>
              <a:rPr lang="ru-RU" sz="44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ru-RU" sz="4400" b="1" dirty="0" smtClean="0">
                <a:solidFill>
                  <a:srgbClr val="FFFF00"/>
                </a:solidFill>
                <a:latin typeface="+mj-lt"/>
              </a:rPr>
              <a:t>Оформление</a:t>
            </a:r>
            <a:endParaRPr lang="uk-UA" sz="4400" b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" y="5684704"/>
            <a:ext cx="1219200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ORT</a:t>
            </a:r>
            <a:r>
              <a:rPr lang="en-US" sz="3200" b="1" dirty="0" smtClean="0">
                <a:solidFill>
                  <a:srgbClr val="15DFED"/>
                </a:solidFill>
                <a:cs typeface="Segoe UI Semibold" panose="020B0702040204020203" pitchFamily="34" charset="0"/>
              </a:rPr>
              <a:t>DNIPRO</a:t>
            </a:r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.ORG</a:t>
            </a:r>
            <a:r>
              <a:rPr lang="en-US" sz="3200" b="1" dirty="0" smtClean="0">
                <a:solidFill>
                  <a:srgbClr val="17DDEC"/>
                </a:solidFill>
                <a:cs typeface="Segoe UI Semibold" panose="020B0702040204020203" pitchFamily="34" charset="0"/>
              </a:rPr>
              <a:t>/QA</a:t>
            </a:r>
            <a:endParaRPr lang="en-US" sz="3600" b="1" dirty="0">
              <a:solidFill>
                <a:srgbClr val="17DDEC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25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5157192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qa16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B050"/>
                </a:solidFill>
                <a:latin typeface="+mj-lt"/>
              </a:rPr>
              <a:t>ortdnipro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70C0"/>
                </a:solidFill>
                <a:latin typeface="+mj-lt"/>
              </a:rPr>
              <a:t>org</a:t>
            </a:r>
            <a:endParaRPr lang="uk-UA" sz="5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136560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0150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rgbClr val="0070C0"/>
                </a:solidFill>
              </a:rPr>
              <a:t>Наша группа</a:t>
            </a:r>
            <a:r>
              <a:rPr lang="en-US" sz="6600" b="1" dirty="0">
                <a:solidFill>
                  <a:srgbClr val="0070C0"/>
                </a:solidFill>
              </a:rPr>
              <a:t>:</a:t>
            </a:r>
            <a:r>
              <a:rPr lang="ru-RU" sz="6600" b="1" dirty="0">
                <a:solidFill>
                  <a:srgbClr val="0070C0"/>
                </a:solidFill>
              </a:rPr>
              <a:t> </a:t>
            </a:r>
            <a:r>
              <a:rPr lang="en-US" sz="8000" b="1" dirty="0" smtClean="0">
                <a:solidFill>
                  <a:srgbClr val="C00000"/>
                </a:solidFill>
              </a:rPr>
              <a:t>QA16</a:t>
            </a:r>
            <a:endParaRPr lang="ru-RU" sz="6600" b="1" dirty="0">
              <a:solidFill>
                <a:srgbClr val="C00000"/>
              </a:solidFill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4511824" y="3501008"/>
            <a:ext cx="2997146" cy="1152128"/>
            <a:chOff x="5516438" y="3825044"/>
            <a:chExt cx="2997146" cy="1152128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438" y="3825044"/>
              <a:ext cx="1152128" cy="11521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26" name="Picture 2" descr="https://image.flaticon.com/icons/png/512/25/25437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755" y="3865693"/>
              <a:ext cx="1070829" cy="1070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Заголовок 1"/>
          <p:cNvSpPr txBox="1">
            <a:spLocks/>
          </p:cNvSpPr>
          <p:nvPr/>
        </p:nvSpPr>
        <p:spPr>
          <a:xfrm>
            <a:off x="2206302" y="18926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4000" b="1" dirty="0" smtClean="0"/>
              <a:t>Где взять материалы</a:t>
            </a:r>
            <a:r>
              <a:rPr lang="en-US" sz="4000" b="1" dirty="0" smtClean="0"/>
              <a:t>?</a:t>
            </a:r>
            <a:endParaRPr lang="ru-RU" sz="40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692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600" b="1" dirty="0" smtClean="0"/>
              <a:t>…у </a:t>
            </a:r>
            <a:r>
              <a:rPr lang="en-US" sz="6600" b="1" dirty="0"/>
              <a:t>HTML </a:t>
            </a:r>
            <a:r>
              <a:rPr lang="ru-RU" sz="6600" b="1" dirty="0"/>
              <a:t>есть проблемы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15721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7508" y="1196752"/>
            <a:ext cx="8856983" cy="410715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Номер слайда 36"/>
          <p:cNvSpPr txBox="1">
            <a:spLocks/>
          </p:cNvSpPr>
          <p:nvPr/>
        </p:nvSpPr>
        <p:spPr>
          <a:xfrm>
            <a:off x="11208568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4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5452" y="5622339"/>
            <a:ext cx="842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6">
                    <a:lumMod val="75000"/>
                  </a:schemeClr>
                </a:solidFill>
              </a:rPr>
              <a:t>Есть проблемы:</a:t>
            </a:r>
            <a:r>
              <a:rPr lang="ru-RU" sz="2400" b="1" dirty="0"/>
              <a:t> </a:t>
            </a:r>
            <a:r>
              <a:rPr lang="ru-RU" sz="2400" b="1" dirty="0" smtClean="0"/>
              <a:t>«</a:t>
            </a:r>
            <a:r>
              <a:rPr lang="ru-RU" sz="2400" dirty="0" smtClean="0"/>
              <a:t>захламление» </a:t>
            </a:r>
            <a:r>
              <a:rPr lang="en-US" sz="2400" b="1" dirty="0"/>
              <a:t>HTML</a:t>
            </a:r>
            <a:r>
              <a:rPr lang="ru-RU" sz="2400" b="1" dirty="0" smtClean="0"/>
              <a:t>-разметки</a:t>
            </a:r>
            <a:r>
              <a:rPr lang="ru-RU" sz="2400" dirty="0" smtClean="0"/>
              <a:t>, дублирование кода, сложности</a:t>
            </a:r>
            <a:r>
              <a:rPr lang="uk-UA" sz="2400" dirty="0" smtClean="0"/>
              <a:t> при</a:t>
            </a:r>
            <a:r>
              <a:rPr lang="ru-RU" sz="2400" dirty="0" smtClean="0"/>
              <a:t> внесении изменений…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HTML </a:t>
            </a:r>
            <a:r>
              <a:rPr lang="ru-RU" sz="4000" b="1" dirty="0"/>
              <a:t>и оформление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3692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2468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</a:rPr>
              <a:t>1. </a:t>
            </a:r>
            <a:r>
              <a:rPr lang="en-US" sz="6600" b="1" dirty="0" smtClean="0">
                <a:solidFill>
                  <a:srgbClr val="FFFF00"/>
                </a:solidFill>
              </a:rPr>
              <a:t>C</a:t>
            </a:r>
            <a:r>
              <a:rPr lang="en-US" sz="6600" b="1" dirty="0" smtClean="0"/>
              <a:t>ascading </a:t>
            </a:r>
            <a:r>
              <a:rPr lang="en-US" sz="6600" b="1" dirty="0" smtClean="0">
                <a:solidFill>
                  <a:srgbClr val="FFFF00"/>
                </a:solidFill>
              </a:rPr>
              <a:t>S</a:t>
            </a:r>
            <a:r>
              <a:rPr lang="en-US" sz="6600" b="1" dirty="0" smtClean="0"/>
              <a:t>tyle </a:t>
            </a:r>
            <a:r>
              <a:rPr lang="en-US" sz="6600" b="1" dirty="0" smtClean="0">
                <a:solidFill>
                  <a:srgbClr val="FFFF00"/>
                </a:solidFill>
              </a:rPr>
              <a:t>S</a:t>
            </a:r>
            <a:r>
              <a:rPr lang="en-US" sz="6600" b="1" dirty="0" smtClean="0"/>
              <a:t>heets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84457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60165"/>
            <a:ext cx="12192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 err="1" smtClean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ru-RU" sz="6000" b="1" dirty="0" err="1" smtClean="0"/>
              <a:t>ascading</a:t>
            </a:r>
            <a:r>
              <a:rPr lang="ru-RU" sz="6000" b="1" dirty="0" smtClean="0"/>
              <a:t> </a:t>
            </a:r>
            <a:r>
              <a:rPr lang="ru-RU" sz="6000" b="1" dirty="0" err="1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ru-RU" sz="6000" b="1" dirty="0" err="1"/>
              <a:t>tyle</a:t>
            </a:r>
            <a:r>
              <a:rPr lang="ru-RU" sz="6000" b="1" dirty="0"/>
              <a:t> </a:t>
            </a:r>
            <a:r>
              <a:rPr lang="ru-RU" sz="6000" b="1" dirty="0" err="1" smtClean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ru-RU" sz="6000" b="1" dirty="0" err="1" smtClean="0"/>
              <a:t>heets</a:t>
            </a:r>
            <a:r>
              <a:rPr lang="en-US" sz="6000" b="1" dirty="0"/>
              <a:t> </a:t>
            </a:r>
            <a:endParaRPr lang="ru-RU" sz="6000" b="1" dirty="0" smtClean="0"/>
          </a:p>
          <a:p>
            <a:pPr algn="ctr"/>
            <a:r>
              <a:rPr lang="ru-RU" sz="4400" b="1" dirty="0" smtClean="0"/>
              <a:t>описание оформления </a:t>
            </a:r>
            <a:r>
              <a:rPr lang="en-US" sz="4400" b="1" dirty="0" smtClean="0"/>
              <a:t>HTML-</a:t>
            </a:r>
            <a:r>
              <a:rPr lang="ru-RU" sz="4400" b="1" dirty="0" smtClean="0"/>
              <a:t>документа</a:t>
            </a:r>
            <a:endParaRPr lang="ru-RU" sz="4400" dirty="0"/>
          </a:p>
        </p:txBody>
      </p:sp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3432" y="3789040"/>
            <a:ext cx="10081120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0070C0"/>
                </a:solidFill>
              </a:rPr>
              <a:t>При помощи </a:t>
            </a:r>
            <a:r>
              <a:rPr lang="en-US" sz="4000" b="1" dirty="0">
                <a:solidFill>
                  <a:srgbClr val="0070C0"/>
                </a:solidFill>
              </a:rPr>
              <a:t>CSS</a:t>
            </a:r>
            <a:r>
              <a:rPr lang="ru-RU" sz="4000" b="1" dirty="0">
                <a:solidFill>
                  <a:srgbClr val="0070C0"/>
                </a:solidFill>
              </a:rPr>
              <a:t> мы можем задавать оформление 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</a:rPr>
              <a:t>конкретным</a:t>
            </a:r>
            <a:r>
              <a:rPr lang="ru-RU" sz="4000" b="1" dirty="0">
                <a:solidFill>
                  <a:srgbClr val="0070C0"/>
                </a:solidFill>
              </a:rPr>
              <a:t> тегам</a:t>
            </a:r>
          </a:p>
        </p:txBody>
      </p:sp>
    </p:spTree>
    <p:extLst>
      <p:ext uri="{BB962C8B-B14F-4D97-AF65-F5344CB8AC3E}">
        <p14:creationId xmlns:p14="http://schemas.microsoft.com/office/powerpoint/2010/main" val="133377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98072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/>
              <a:t>Зачем нужен </a:t>
            </a:r>
            <a:r>
              <a:rPr lang="en-US" sz="6000" b="1" dirty="0"/>
              <a:t>CSS</a:t>
            </a:r>
            <a:r>
              <a:rPr lang="ru-RU" sz="6000" b="1" dirty="0"/>
              <a:t>?</a:t>
            </a:r>
            <a:endParaRPr lang="en-US" sz="6000" b="1" dirty="0"/>
          </a:p>
        </p:txBody>
      </p:sp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343472" y="2924944"/>
            <a:ext cx="97210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/>
              <a:t>Для </a:t>
            </a:r>
            <a:r>
              <a:rPr lang="ru-RU" sz="4000" b="1" dirty="0" smtClean="0">
                <a:solidFill>
                  <a:srgbClr val="00B050"/>
                </a:solidFill>
              </a:rPr>
              <a:t>разделение контента</a:t>
            </a:r>
            <a:r>
              <a:rPr lang="ru-RU" sz="4000" dirty="0" smtClean="0">
                <a:solidFill>
                  <a:srgbClr val="00B050"/>
                </a:solidFill>
              </a:rPr>
              <a:t> </a:t>
            </a:r>
            <a:r>
              <a:rPr lang="ru-RU" sz="4000" dirty="0" smtClean="0"/>
              <a:t>и </a:t>
            </a:r>
            <a:r>
              <a:rPr lang="ru-RU" sz="4000" b="1" dirty="0" smtClean="0">
                <a:solidFill>
                  <a:srgbClr val="00B050"/>
                </a:solidFill>
              </a:rPr>
              <a:t>его</a:t>
            </a:r>
            <a:r>
              <a:rPr lang="ru-RU" sz="4000" dirty="0" smtClean="0"/>
              <a:t> </a:t>
            </a:r>
            <a:r>
              <a:rPr lang="ru-RU" sz="4000" b="1" dirty="0" smtClean="0">
                <a:solidFill>
                  <a:srgbClr val="00B050"/>
                </a:solidFill>
              </a:rPr>
              <a:t>оформления</a:t>
            </a:r>
            <a:r>
              <a:rPr lang="ru-RU" sz="4000" dirty="0" smtClean="0"/>
              <a:t>, и для </a:t>
            </a:r>
            <a:r>
              <a:rPr lang="ru-RU" sz="4000" b="1" dirty="0" smtClean="0">
                <a:solidFill>
                  <a:srgbClr val="0070C0"/>
                </a:solidFill>
              </a:rPr>
              <a:t>минимизации</a:t>
            </a:r>
            <a:r>
              <a:rPr lang="ru-RU" sz="4000" dirty="0" smtClean="0">
                <a:solidFill>
                  <a:srgbClr val="0070C0"/>
                </a:solidFill>
              </a:rPr>
              <a:t> </a:t>
            </a:r>
            <a:r>
              <a:rPr lang="ru-RU" sz="4000" b="1" dirty="0" smtClean="0">
                <a:solidFill>
                  <a:srgbClr val="0070C0"/>
                </a:solidFill>
              </a:rPr>
              <a:t>повторений в</a:t>
            </a:r>
            <a:r>
              <a:rPr lang="ru-RU" sz="4000" dirty="0" smtClean="0">
                <a:solidFill>
                  <a:srgbClr val="0070C0"/>
                </a:solidFill>
              </a:rPr>
              <a:t> </a:t>
            </a:r>
            <a:r>
              <a:rPr lang="ru-RU" sz="4000" b="1" dirty="0" smtClean="0">
                <a:solidFill>
                  <a:srgbClr val="0070C0"/>
                </a:solidFill>
              </a:rPr>
              <a:t>коде</a:t>
            </a:r>
            <a:endParaRPr lang="ru-RU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50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0362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/>
              <a:t>Синтаксис </a:t>
            </a:r>
            <a:r>
              <a:rPr lang="en-US" sz="4400" b="1" dirty="0"/>
              <a:t>CSS</a:t>
            </a:r>
          </a:p>
        </p:txBody>
      </p:sp>
      <p:sp>
        <p:nvSpPr>
          <p:cNvPr id="7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8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67682" y="2875583"/>
            <a:ext cx="757585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F0000"/>
                </a:solidFill>
              </a:rPr>
              <a:t>h2</a:t>
            </a:r>
            <a:r>
              <a:rPr lang="en-US" sz="4400" b="1" dirty="0" smtClean="0"/>
              <a:t> </a:t>
            </a:r>
            <a:r>
              <a:rPr lang="en-US" sz="4400" b="1" dirty="0"/>
              <a:t>{ </a:t>
            </a:r>
            <a:r>
              <a:rPr lang="en-US" sz="4400" b="1" dirty="0">
                <a:solidFill>
                  <a:srgbClr val="00B050"/>
                </a:solidFill>
              </a:rPr>
              <a:t>color</a:t>
            </a:r>
            <a:r>
              <a:rPr lang="en-US" sz="4400" b="1" dirty="0"/>
              <a:t>: </a:t>
            </a:r>
            <a:r>
              <a:rPr lang="en-US" sz="4400" b="1" dirty="0">
                <a:solidFill>
                  <a:schemeClr val="accent6"/>
                </a:solidFill>
              </a:rPr>
              <a:t>red</a:t>
            </a:r>
            <a:r>
              <a:rPr lang="en-US" sz="4400" b="1" dirty="0"/>
              <a:t>; </a:t>
            </a:r>
            <a:r>
              <a:rPr lang="en-US" sz="4400" b="1" dirty="0">
                <a:solidFill>
                  <a:srgbClr val="00B050"/>
                </a:solidFill>
              </a:rPr>
              <a:t>font-size</a:t>
            </a:r>
            <a:r>
              <a:rPr lang="en-US" sz="4400" b="1" dirty="0"/>
              <a:t>: </a:t>
            </a:r>
            <a:r>
              <a:rPr lang="en-US" sz="4400" b="1" dirty="0">
                <a:solidFill>
                  <a:schemeClr val="accent6"/>
                </a:solidFill>
              </a:rPr>
              <a:t>16pt</a:t>
            </a:r>
            <a:r>
              <a:rPr lang="en-US" sz="4400" b="1" dirty="0"/>
              <a:t>; }</a:t>
            </a:r>
          </a:p>
        </p:txBody>
      </p:sp>
      <p:sp>
        <p:nvSpPr>
          <p:cNvPr id="10" name="Прямоугольная выноска 9"/>
          <p:cNvSpPr/>
          <p:nvPr/>
        </p:nvSpPr>
        <p:spPr>
          <a:xfrm>
            <a:off x="2135560" y="1412776"/>
            <a:ext cx="3528392" cy="1368152"/>
          </a:xfrm>
          <a:prstGeom prst="wedgeRectCallout">
            <a:avLst>
              <a:gd name="adj1" fmla="val -31359"/>
              <a:gd name="adj2" fmla="val 657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>
                <a:solidFill>
                  <a:schemeClr val="tx1"/>
                </a:solidFill>
              </a:rPr>
              <a:t>CSS </a:t>
            </a:r>
            <a:r>
              <a:rPr lang="ru-RU" sz="2000" b="1" dirty="0">
                <a:solidFill>
                  <a:schemeClr val="tx1"/>
                </a:solidFill>
              </a:rPr>
              <a:t>селектор</a:t>
            </a:r>
            <a:r>
              <a:rPr lang="ru-RU" sz="2000" dirty="0">
                <a:solidFill>
                  <a:schemeClr val="tx1"/>
                </a:solidFill>
              </a:rPr>
              <a:t>, говорит к каким тегам (элементам) будет применятся описываемый стиль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b="1" dirty="0" smtClean="0">
                <a:solidFill>
                  <a:schemeClr val="tx1"/>
                </a:solidFill>
              </a:rPr>
              <a:t>CSS </a:t>
            </a:r>
            <a:r>
              <a:rPr lang="en-US" sz="2000" b="1" dirty="0">
                <a:solidFill>
                  <a:schemeClr val="tx1"/>
                </a:solidFill>
              </a:rPr>
              <a:t>selector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ru-RU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Прямоугольная выноска 10"/>
          <p:cNvSpPr/>
          <p:nvPr/>
        </p:nvSpPr>
        <p:spPr>
          <a:xfrm flipV="1">
            <a:off x="2927648" y="3717032"/>
            <a:ext cx="5112568" cy="1152128"/>
          </a:xfrm>
          <a:prstGeom prst="wedgeRectCallo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71664" y="3789040"/>
            <a:ext cx="4896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Имя свойства, которое устанавливается (</a:t>
            </a:r>
            <a:r>
              <a:rPr lang="en-US" sz="2000" b="1" dirty="0"/>
              <a:t>property</a:t>
            </a:r>
            <a:r>
              <a:rPr lang="ru-RU" sz="2000" dirty="0" smtClean="0"/>
              <a:t>). Каждое свойство задаёт один аспект оформления, например: цвет текста</a:t>
            </a:r>
            <a:endParaRPr lang="ru-RU" sz="2000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096000" y="1412776"/>
            <a:ext cx="4104456" cy="1368152"/>
          </a:xfrm>
          <a:prstGeom prst="wedgeRectCallout">
            <a:avLst>
              <a:gd name="adj1" fmla="val 20990"/>
              <a:gd name="adj2" fmla="val 69756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000" dirty="0">
                <a:solidFill>
                  <a:schemeClr val="tx1"/>
                </a:solidFill>
              </a:rPr>
              <a:t>Значение которое устанавливается для свойства (</a:t>
            </a:r>
            <a:r>
              <a:rPr lang="en-US" sz="2000" b="1" dirty="0">
                <a:solidFill>
                  <a:schemeClr val="tx1"/>
                </a:solidFill>
              </a:rPr>
              <a:t>value</a:t>
            </a:r>
            <a:r>
              <a:rPr lang="ru-RU" sz="2000" dirty="0" smtClean="0">
                <a:solidFill>
                  <a:schemeClr val="tx1"/>
                </a:solidFill>
              </a:rPr>
              <a:t>), например (в зависимости от свойства): размер, цвет, название шрифта и т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  <a:r>
              <a:rPr lang="ru-RU" sz="2000" dirty="0" smtClean="0">
                <a:solidFill>
                  <a:schemeClr val="tx1"/>
                </a:solidFill>
              </a:rPr>
              <a:t>п.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5560" y="5129897"/>
            <a:ext cx="8064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Код на языке </a:t>
            </a:r>
            <a:r>
              <a:rPr lang="en-US" sz="2000" b="1" dirty="0" smtClean="0"/>
              <a:t>CSS</a:t>
            </a:r>
            <a:r>
              <a:rPr lang="en-US" sz="2000" dirty="0" smtClean="0"/>
              <a:t> </a:t>
            </a:r>
            <a:r>
              <a:rPr lang="ru-RU" sz="2000" dirty="0" smtClean="0"/>
              <a:t>состоит из стилевых правил, каждое правило содержит </a:t>
            </a:r>
            <a:r>
              <a:rPr lang="ru-RU" sz="2000" b="1" dirty="0" smtClean="0"/>
              <a:t>селектор</a:t>
            </a:r>
            <a:r>
              <a:rPr lang="ru-RU" sz="2000" dirty="0" smtClean="0"/>
              <a:t> (указание на то какие теги необходимо оформить эти правилом) и набор </a:t>
            </a:r>
            <a:r>
              <a:rPr lang="ru-RU" sz="2000" b="1" dirty="0" smtClean="0"/>
              <a:t>стилевых свойств</a:t>
            </a:r>
            <a:r>
              <a:rPr lang="ru-RU" sz="2000" dirty="0" smtClean="0"/>
              <a:t>, которые и задают оформление (на примере </a:t>
            </a:r>
            <a:r>
              <a:rPr lang="en-US" sz="2000" b="1" i="1" dirty="0" smtClean="0"/>
              <a:t>color</a:t>
            </a:r>
            <a:r>
              <a:rPr lang="en-US" sz="2000" dirty="0" smtClean="0"/>
              <a:t>, </a:t>
            </a:r>
            <a:r>
              <a:rPr lang="en-US" sz="2000" b="1" i="1" dirty="0" smtClean="0"/>
              <a:t>font-size</a:t>
            </a:r>
            <a:r>
              <a:rPr lang="ru-RU" sz="2000" i="1" dirty="0" smtClean="0"/>
              <a:t>,</a:t>
            </a:r>
            <a:r>
              <a:rPr lang="ru-RU" sz="2000" b="1" i="1" dirty="0" smtClean="0"/>
              <a:t> </a:t>
            </a:r>
            <a:r>
              <a:rPr lang="en-US" sz="2000" b="1" i="1" dirty="0" smtClean="0"/>
              <a:t>background-color </a:t>
            </a:r>
            <a:r>
              <a:rPr lang="uk-UA" sz="2000" i="1" dirty="0" smtClean="0"/>
              <a:t>и </a:t>
            </a:r>
            <a:r>
              <a:rPr lang="uk-UA" sz="2000" i="1" dirty="0" err="1" smtClean="0"/>
              <a:t>т.д</a:t>
            </a:r>
            <a:r>
              <a:rPr lang="uk-UA" sz="2000" i="1" dirty="0" smtClean="0"/>
              <a:t>.</a:t>
            </a:r>
            <a:r>
              <a:rPr lang="ru-RU" sz="2000" dirty="0" smtClean="0"/>
              <a:t>).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257874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/>
              <a:t>2. </a:t>
            </a:r>
            <a:r>
              <a:rPr lang="ru-RU" sz="6000" b="1" dirty="0" smtClean="0"/>
              <a:t>Где </a:t>
            </a:r>
            <a:r>
              <a:rPr lang="ru-RU" sz="6000" b="1" dirty="0"/>
              <a:t>размещать </a:t>
            </a:r>
            <a:r>
              <a:rPr lang="en-US" sz="6000" b="1" dirty="0"/>
              <a:t>CSS</a:t>
            </a:r>
            <a:r>
              <a:rPr lang="ru-RU" sz="6000" b="1" dirty="0"/>
              <a:t>?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6512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36"/>
          <p:cNvSpPr txBox="1">
            <a:spLocks/>
          </p:cNvSpPr>
          <p:nvPr/>
        </p:nvSpPr>
        <p:spPr>
          <a:xfrm>
            <a:off x="11208568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248127" y="653787"/>
            <a:ext cx="49438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b="1" dirty="0"/>
              <a:t>В теге </a:t>
            </a:r>
            <a:r>
              <a:rPr lang="en-US" sz="4800" b="1" dirty="0">
                <a:solidFill>
                  <a:srgbClr val="00B050"/>
                </a:solidFill>
              </a:rPr>
              <a:t>&lt;style</a:t>
            </a:r>
            <a:r>
              <a:rPr lang="en-US" sz="4800" b="1" dirty="0" smtClean="0">
                <a:solidFill>
                  <a:srgbClr val="00B050"/>
                </a:solidFill>
              </a:rPr>
              <a:t>&gt;</a:t>
            </a:r>
            <a:r>
              <a:rPr lang="ru-RU" sz="4800" b="1" dirty="0" smtClean="0">
                <a:solidFill>
                  <a:srgbClr val="00B050"/>
                </a:solidFill>
              </a:rPr>
              <a:t> </a:t>
            </a:r>
            <a:endParaRPr lang="uk-UA" sz="4800" b="1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48128" y="2326228"/>
            <a:ext cx="48245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В рамках </a:t>
            </a:r>
            <a:r>
              <a:rPr lang="en-US" sz="3200" dirty="0" smtClean="0"/>
              <a:t>HTML-</a:t>
            </a:r>
            <a:r>
              <a:rPr lang="ru-RU" sz="3200" dirty="0" smtClean="0"/>
              <a:t>документа. Стандарт </a:t>
            </a:r>
            <a:r>
              <a:rPr lang="en-US" sz="3200" b="1" dirty="0"/>
              <a:t>HTML 5.2 </a:t>
            </a:r>
            <a:r>
              <a:rPr lang="ru-RU" sz="3200" dirty="0" smtClean="0"/>
              <a:t>дал </a:t>
            </a:r>
            <a:r>
              <a:rPr lang="ru-RU" sz="3200" dirty="0"/>
              <a:t>возможность размещать этот тег в любом месте документа.</a:t>
            </a:r>
            <a:endParaRPr lang="uk-UA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69573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824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3343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/>
              <a:t>В </a:t>
            </a:r>
            <a:r>
              <a:rPr lang="ru-RU" sz="3600" b="1" dirty="0" smtClean="0"/>
              <a:t>отдельном файле с </a:t>
            </a:r>
            <a:r>
              <a:rPr lang="en-US" sz="3600" b="1" dirty="0" smtClean="0"/>
              <a:t>CSS-</a:t>
            </a:r>
            <a:r>
              <a:rPr lang="ru-RU" sz="3600" b="1" dirty="0" smtClean="0"/>
              <a:t>кодом</a:t>
            </a:r>
            <a:endParaRPr lang="en-US" sz="4800" b="1" dirty="0">
              <a:solidFill>
                <a:srgbClr val="00B05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7104112" y="1772816"/>
            <a:ext cx="47525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style.css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Номер слайда 36"/>
          <p:cNvSpPr txBox="1">
            <a:spLocks/>
          </p:cNvSpPr>
          <p:nvPr/>
        </p:nvSpPr>
        <p:spPr>
          <a:xfrm>
            <a:off x="11208568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11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337" y="5301208"/>
            <a:ext cx="7992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 помощи тега </a:t>
            </a:r>
            <a:endParaRPr lang="en-US" sz="3200" b="1" dirty="0" smtClean="0"/>
          </a:p>
          <a:p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stylesheet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=‘./style.css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uk-UA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9376" y="4068361"/>
            <a:ext cx="6194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endParaRPr lang="uk-UA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124744"/>
            <a:ext cx="6194236" cy="2880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2416173"/>
            <a:ext cx="4752528" cy="27393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214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/>
              <a:t>3. </a:t>
            </a:r>
            <a:r>
              <a:rPr lang="ru-RU" sz="6600" b="1" dirty="0" smtClean="0"/>
              <a:t>Что </a:t>
            </a:r>
            <a:r>
              <a:rPr lang="en-US" sz="6600" b="1" dirty="0"/>
              <a:t>CSS </a:t>
            </a:r>
            <a:r>
              <a:rPr lang="ru-RU" sz="6600" b="1" dirty="0"/>
              <a:t>может </a:t>
            </a: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ru-RU" sz="6600" b="1" dirty="0" smtClean="0"/>
              <a:t>предложить</a:t>
            </a:r>
            <a:r>
              <a:rPr lang="ru-RU" sz="6600" b="1" dirty="0"/>
              <a:t>?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198425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3384" y="548680"/>
            <a:ext cx="3491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CSS </a:t>
            </a:r>
            <a:r>
              <a:rPr lang="ru-RU" sz="3200" b="1" dirty="0"/>
              <a:t>по категориям</a:t>
            </a:r>
            <a:endParaRPr lang="ru-RU" sz="20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272654" y="5013176"/>
            <a:ext cx="42158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hlinkClick r:id="rId2"/>
              </a:rPr>
              <a:t>https://webref.ru/css/type</a:t>
            </a:r>
            <a:endParaRPr lang="ru-RU" sz="28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76"/>
            <a:ext cx="4023466" cy="68427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15880" y="2363396"/>
            <a:ext cx="540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 smtClean="0"/>
              <a:t>CSS</a:t>
            </a:r>
            <a:r>
              <a:rPr lang="en-US" sz="2400" dirty="0" smtClean="0"/>
              <a:t> </a:t>
            </a:r>
            <a:r>
              <a:rPr lang="ru-RU" sz="2400" dirty="0" smtClean="0"/>
              <a:t>отвечает за большое количество аспектов оформления, и начнём мы с свойств позволяющих задать </a:t>
            </a:r>
            <a:r>
              <a:rPr lang="ru-RU" sz="2400" b="1" dirty="0" smtClean="0"/>
              <a:t>оформление текста</a:t>
            </a:r>
            <a:endParaRPr lang="uk-UA" sz="2400" b="1" dirty="0"/>
          </a:p>
        </p:txBody>
      </p:sp>
    </p:spTree>
    <p:extLst>
      <p:ext uri="{BB962C8B-B14F-4D97-AF65-F5344CB8AC3E}">
        <p14:creationId xmlns:p14="http://schemas.microsoft.com/office/powerpoint/2010/main" val="39674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4</a:t>
            </a:r>
            <a:r>
              <a:rPr lang="en-US" sz="7200" b="1" dirty="0" smtClean="0"/>
              <a:t>. </a:t>
            </a:r>
            <a:r>
              <a:rPr lang="ru-RU" sz="7200" b="1" dirty="0" smtClean="0"/>
              <a:t>На </a:t>
            </a:r>
            <a:r>
              <a:rPr lang="ru-RU" sz="7200" b="1" dirty="0" smtClean="0"/>
              <a:t>практике…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412393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464152" y="1550640"/>
            <a:ext cx="4176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Подготовьте разметку на основе таких команд </a:t>
            </a:r>
            <a:r>
              <a:rPr lang="en-US" sz="2400" b="1" dirty="0" smtClean="0"/>
              <a:t>Emmet</a:t>
            </a:r>
            <a:r>
              <a:rPr lang="en-US" sz="2400" dirty="0" smtClean="0"/>
              <a:t>’</a:t>
            </a:r>
            <a:r>
              <a:rPr lang="uk-UA" sz="2400" dirty="0" smtClean="0"/>
              <a:t>а</a:t>
            </a:r>
            <a:r>
              <a:rPr lang="en-US" sz="2400" dirty="0" smtClean="0"/>
              <a:t> </a:t>
            </a:r>
            <a:r>
              <a:rPr lang="uk-UA" sz="2400" dirty="0" smtClean="0"/>
              <a:t>в </a:t>
            </a:r>
            <a:r>
              <a:rPr lang="en-US" sz="2400" b="1" dirty="0" err="1" smtClean="0"/>
              <a:t>VSCode</a:t>
            </a:r>
            <a:r>
              <a:rPr lang="en-US" sz="2400" b="1" dirty="0" smtClean="0"/>
              <a:t> </a:t>
            </a:r>
            <a:r>
              <a:rPr lang="en-US" sz="2400" dirty="0" smtClean="0"/>
              <a:t>(</a:t>
            </a:r>
            <a:r>
              <a:rPr lang="uk-UA" sz="2400" dirty="0" smtClean="0"/>
              <a:t>команд</a:t>
            </a:r>
            <a:r>
              <a:rPr lang="ru-RU" sz="2400" dirty="0" smtClean="0"/>
              <a:t>ы выполняются по одной</a:t>
            </a:r>
            <a:r>
              <a:rPr lang="en-US" sz="2400" dirty="0" smtClean="0"/>
              <a:t>)</a:t>
            </a:r>
          </a:p>
          <a:p>
            <a:endParaRPr lang="ru-RU" sz="2400" dirty="0"/>
          </a:p>
          <a:p>
            <a:r>
              <a:rPr lang="en-US" sz="2400" dirty="0" smtClean="0"/>
              <a:t>1)</a:t>
            </a:r>
            <a:r>
              <a:rPr lang="uk-UA" sz="2400" dirty="0" smtClean="0"/>
              <a:t>Каркас </a:t>
            </a:r>
            <a:r>
              <a:rPr lang="en-US" sz="2400" dirty="0" smtClean="0"/>
              <a:t>HTML</a:t>
            </a:r>
            <a:r>
              <a:rPr lang="uk-UA" sz="2400" dirty="0" smtClean="0"/>
              <a:t>-</a:t>
            </a:r>
            <a:r>
              <a:rPr lang="uk-UA" sz="2400" dirty="0" err="1" smtClean="0"/>
              <a:t>разметки</a:t>
            </a:r>
            <a:r>
              <a:rPr lang="en-US" sz="2400" dirty="0" smtClean="0"/>
              <a:t>;</a:t>
            </a:r>
            <a:endParaRPr lang="uk-UA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2) </a:t>
            </a:r>
            <a:r>
              <a:rPr lang="uk-UA" sz="2400" dirty="0" smtClean="0"/>
              <a:t>Один заголовок </a:t>
            </a:r>
            <a:r>
              <a:rPr lang="en-US" sz="2400" b="1" dirty="0" smtClean="0"/>
              <a:t>&lt;h1&gt; </a:t>
            </a:r>
            <a:r>
              <a:rPr lang="uk-UA" sz="2400" dirty="0" smtClean="0"/>
              <a:t>с 10-ю словами;</a:t>
            </a:r>
          </a:p>
          <a:p>
            <a:endParaRPr lang="uk-UA" sz="2400" dirty="0" smtClean="0"/>
          </a:p>
          <a:p>
            <a:r>
              <a:rPr lang="uk-UA" sz="2400" dirty="0" smtClean="0"/>
              <a:t>3) Три </a:t>
            </a:r>
            <a:r>
              <a:rPr lang="ru-RU" sz="2400" dirty="0" smtClean="0"/>
              <a:t>параграфа </a:t>
            </a:r>
            <a:r>
              <a:rPr lang="en-US" sz="2400" b="1" dirty="0" smtClean="0"/>
              <a:t>&lt;p&gt; </a:t>
            </a:r>
            <a:r>
              <a:rPr lang="uk-UA" sz="2400" dirty="0" smtClean="0"/>
              <a:t>с 70-ю словами </a:t>
            </a:r>
            <a:r>
              <a:rPr lang="ru-RU" sz="2400" dirty="0" smtClean="0"/>
              <a:t>каждый.</a:t>
            </a:r>
            <a:endParaRPr lang="ru-RU" sz="2400" b="1" dirty="0"/>
          </a:p>
        </p:txBody>
      </p:sp>
      <p:sp>
        <p:nvSpPr>
          <p:cNvPr id="7" name="Номер слайда 36"/>
          <p:cNvSpPr txBox="1">
            <a:spLocks/>
          </p:cNvSpPr>
          <p:nvPr/>
        </p:nvSpPr>
        <p:spPr>
          <a:xfrm>
            <a:off x="11136560" y="619499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15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6064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CSS </a:t>
            </a:r>
            <a:r>
              <a:rPr lang="ru-RU" sz="4800" b="1" dirty="0"/>
              <a:t>на практике</a:t>
            </a:r>
            <a:endParaRPr lang="ru-RU" sz="3600" i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550640"/>
            <a:ext cx="6257925" cy="4038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78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dirty="0" smtClean="0"/>
              <a:t>5</a:t>
            </a:r>
            <a:r>
              <a:rPr lang="en-US" sz="7200" b="1" dirty="0" smtClean="0"/>
              <a:t>. </a:t>
            </a:r>
            <a:r>
              <a:rPr lang="ru-RU" sz="7200" b="1" dirty="0" smtClean="0"/>
              <a:t>Задание </a:t>
            </a:r>
            <a:r>
              <a:rPr lang="ru-RU" sz="7200" b="1" dirty="0"/>
              <a:t>цвета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55881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39615" y="200834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Способы задание цвета в </a:t>
            </a:r>
            <a:r>
              <a:rPr lang="en-US" sz="4000" b="1" dirty="0"/>
              <a:t>CSS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6"/>
          <p:cNvSpPr txBox="1">
            <a:spLocks/>
          </p:cNvSpPr>
          <p:nvPr/>
        </p:nvSpPr>
        <p:spPr>
          <a:xfrm>
            <a:off x="11280576" y="6309320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7528" y="980728"/>
            <a:ext cx="907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Свойство </a:t>
            </a:r>
            <a:r>
              <a:rPr lang="en-US" sz="2400" b="1" dirty="0" smtClean="0">
                <a:solidFill>
                  <a:srgbClr val="0070C0"/>
                </a:solidFill>
              </a:rPr>
              <a:t>color</a:t>
            </a:r>
            <a:r>
              <a:rPr lang="en-US" sz="2400" dirty="0" smtClean="0"/>
              <a:t> </a:t>
            </a:r>
            <a:r>
              <a:rPr lang="ru-RU" sz="2400" dirty="0" smtClean="0"/>
              <a:t>задаёт цвет текста в теге, свойство </a:t>
            </a:r>
            <a:r>
              <a:rPr lang="en-US" sz="2400" b="1" dirty="0" smtClean="0">
                <a:solidFill>
                  <a:srgbClr val="00B050"/>
                </a:solidFill>
              </a:rPr>
              <a:t>background-color</a:t>
            </a:r>
            <a:r>
              <a:rPr lang="en-US" sz="2400" dirty="0" smtClean="0"/>
              <a:t> </a:t>
            </a:r>
            <a:r>
              <a:rPr lang="ru-RU" sz="2400" dirty="0" smtClean="0"/>
              <a:t>задаёт цвет фона для тега (по умолчанию фон прозрачный), также может быть использовано универсальной свойство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background</a:t>
            </a:r>
            <a:r>
              <a:rPr lang="ru-RU" sz="2400" dirty="0" smtClean="0"/>
              <a:t>.</a:t>
            </a:r>
            <a:endParaRPr lang="uk-UA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75963" y="2204864"/>
            <a:ext cx="38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Значение цвета может быть задано: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271464" y="2704852"/>
            <a:ext cx="100811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Константой: </a:t>
            </a:r>
            <a:r>
              <a:rPr lang="en-US" b="1" dirty="0" smtClean="0">
                <a:solidFill>
                  <a:srgbClr val="00B050"/>
                </a:solidFill>
              </a:rPr>
              <a:t>red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B050"/>
                </a:solidFill>
              </a:rPr>
              <a:t> green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B050"/>
                </a:solidFill>
              </a:rPr>
              <a:t> blue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B050"/>
                </a:solidFill>
              </a:rPr>
              <a:t> orange</a:t>
            </a:r>
            <a:r>
              <a:rPr lang="en-US" b="1" dirty="0" smtClean="0"/>
              <a:t>...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 виде кода цвета модели </a:t>
            </a:r>
            <a:r>
              <a:rPr lang="en-US" dirty="0" smtClean="0"/>
              <a:t>RGB</a:t>
            </a:r>
            <a:r>
              <a:rPr lang="ru-RU" dirty="0" smtClean="0"/>
              <a:t>, например: </a:t>
            </a:r>
            <a:r>
              <a:rPr lang="en-US" b="1" dirty="0" smtClean="0">
                <a:solidFill>
                  <a:srgbClr val="0070C0"/>
                </a:solidFill>
              </a:rPr>
              <a:t>color: </a:t>
            </a:r>
            <a:r>
              <a:rPr lang="en-US" b="1" dirty="0" err="1" smtClean="0">
                <a:solidFill>
                  <a:srgbClr val="00B050"/>
                </a:solidFill>
              </a:rPr>
              <a:t>rgb</a:t>
            </a:r>
            <a:r>
              <a:rPr lang="en-US" b="1" dirty="0" smtClean="0">
                <a:solidFill>
                  <a:srgbClr val="00B050"/>
                </a:solidFill>
              </a:rPr>
              <a:t>(255, 170, 20);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 виде кода цвета модели </a:t>
            </a:r>
            <a:r>
              <a:rPr lang="en-US" dirty="0" smtClean="0"/>
              <a:t>RGBA </a:t>
            </a:r>
            <a:r>
              <a:rPr lang="ru-RU" dirty="0" smtClean="0"/>
              <a:t>(с прозрачностью), например: </a:t>
            </a:r>
            <a:r>
              <a:rPr lang="en-US" b="1" dirty="0" smtClean="0">
                <a:solidFill>
                  <a:srgbClr val="0070C0"/>
                </a:solidFill>
              </a:rPr>
              <a:t>color: </a:t>
            </a:r>
            <a:r>
              <a:rPr lang="en-US" b="1" dirty="0" err="1" smtClean="0">
                <a:solidFill>
                  <a:srgbClr val="00B050"/>
                </a:solidFill>
              </a:rPr>
              <a:t>rgba</a:t>
            </a:r>
            <a:r>
              <a:rPr lang="en-US" b="1" dirty="0" smtClean="0">
                <a:solidFill>
                  <a:srgbClr val="00B050"/>
                </a:solidFill>
              </a:rPr>
              <a:t>(255, 170, 20, 0.5);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 виде цвета модели </a:t>
            </a:r>
            <a:r>
              <a:rPr lang="en-US" dirty="0" smtClean="0"/>
              <a:t>RGB</a:t>
            </a:r>
            <a:r>
              <a:rPr lang="ru-RU" dirty="0" smtClean="0"/>
              <a:t>(</a:t>
            </a:r>
            <a:r>
              <a:rPr lang="en-US" dirty="0" smtClean="0"/>
              <a:t>A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в виде шестнадцатеричного числа, например: </a:t>
            </a:r>
            <a:r>
              <a:rPr lang="en-US" b="1" dirty="0" smtClean="0">
                <a:solidFill>
                  <a:srgbClr val="00B050"/>
                </a:solidFill>
              </a:rPr>
              <a:t>#FFA522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B050"/>
                </a:solidFill>
              </a:rPr>
              <a:t> #DA5FF023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Для задания фона цвет может быть задан  в виде градиента при помощи функций </a:t>
            </a:r>
            <a:r>
              <a:rPr lang="en-US" i="1" dirty="0" smtClean="0"/>
              <a:t>linear-gradient, radial-gradient</a:t>
            </a:r>
            <a:r>
              <a:rPr lang="en-US" dirty="0" smtClean="0"/>
              <a:t>, </a:t>
            </a:r>
            <a:r>
              <a:rPr lang="ru-RU" dirty="0" smtClean="0"/>
              <a:t>например: </a:t>
            </a:r>
            <a:r>
              <a:rPr lang="en-US" b="1" dirty="0" smtClean="0">
                <a:solidFill>
                  <a:srgbClr val="0070C0"/>
                </a:solidFill>
              </a:rPr>
              <a:t>background: </a:t>
            </a:r>
            <a:r>
              <a:rPr lang="en-US" b="1" dirty="0" smtClean="0">
                <a:solidFill>
                  <a:srgbClr val="00B050"/>
                </a:solidFill>
              </a:rPr>
              <a:t>linear-gradient(red, pink, yellow);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 качестве фона может быть установлено изображение, для этого применяется свойство </a:t>
            </a:r>
            <a:r>
              <a:rPr lang="en-US" i="1" dirty="0" smtClean="0"/>
              <a:t>background-image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071267" y="6156012"/>
            <a:ext cx="3325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https://webref.ru/css/value/color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71267" y="5219908"/>
            <a:ext cx="2734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https://webref.ru/css/color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071267" y="5517232"/>
            <a:ext cx="3373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https://webref.ru/css/background</a:t>
            </a:r>
            <a:endParaRPr lang="uk-UA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071267" y="5844218"/>
            <a:ext cx="3916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https://webref.ru/css/background-color</a:t>
            </a:r>
            <a:endParaRPr lang="uk-UA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332559" y="5219908"/>
            <a:ext cx="4243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6"/>
              </a:rPr>
              <a:t>https://webref.ru/css/value/linear-gradient</a:t>
            </a:r>
            <a:endParaRPr lang="uk-UA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342112" y="5517232"/>
            <a:ext cx="4233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7"/>
              </a:rPr>
              <a:t>https://webref.ru/css/value/radial-gradient</a:t>
            </a:r>
            <a:endParaRPr lang="uk-UA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6349587" y="5847762"/>
            <a:ext cx="401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8"/>
              </a:rPr>
              <a:t>https://webref.ru/css/background-image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8303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/>
              <a:t>6</a:t>
            </a:r>
            <a:r>
              <a:rPr lang="en-US" sz="6000" b="1" dirty="0" smtClean="0"/>
              <a:t>. </a:t>
            </a:r>
            <a:r>
              <a:rPr lang="ru-RU" sz="6000" b="1" dirty="0" smtClean="0"/>
              <a:t>Консоль разработчика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401397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7369" y="243805"/>
            <a:ext cx="109452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В консоли разработчика</a:t>
            </a:r>
            <a:r>
              <a:rPr lang="en-US" sz="2800" b="1" dirty="0"/>
              <a:t> (F12</a:t>
            </a:r>
            <a:r>
              <a:rPr lang="en-US" sz="2800" b="1" dirty="0" smtClean="0"/>
              <a:t>)</a:t>
            </a:r>
            <a:r>
              <a:rPr lang="ru-RU" sz="2800" b="1" dirty="0" smtClean="0"/>
              <a:t>, в закладке </a:t>
            </a:r>
            <a:r>
              <a:rPr lang="en-US" sz="2800" b="1" dirty="0" smtClean="0"/>
              <a:t>Elements (</a:t>
            </a:r>
            <a:r>
              <a:rPr lang="ru-RU" sz="2800" b="1" dirty="0" smtClean="0"/>
              <a:t>в</a:t>
            </a:r>
            <a:r>
              <a:rPr lang="en-US" sz="2800" b="1" dirty="0" smtClean="0"/>
              <a:t> </a:t>
            </a:r>
            <a:r>
              <a:rPr lang="ru-RU" sz="2800" b="1" dirty="0" smtClean="0"/>
              <a:t>её подразделе </a:t>
            </a:r>
            <a:r>
              <a:rPr lang="en-US" sz="2800" b="1" dirty="0" smtClean="0"/>
              <a:t>Styles)</a:t>
            </a:r>
            <a:r>
              <a:rPr lang="ru-RU" sz="2800" b="1" dirty="0" smtClean="0"/>
              <a:t>, </a:t>
            </a:r>
            <a:r>
              <a:rPr lang="ru-RU" sz="2800" b="1" dirty="0"/>
              <a:t>инспектор объектов</a:t>
            </a:r>
            <a:r>
              <a:rPr lang="en-US" sz="2800" b="1" dirty="0"/>
              <a:t> </a:t>
            </a:r>
            <a:r>
              <a:rPr lang="ru-RU" sz="2800" b="1" dirty="0"/>
              <a:t>покажет как браузер </a:t>
            </a:r>
            <a:r>
              <a:rPr lang="ru-RU" sz="2800" b="1" dirty="0">
                <a:solidFill>
                  <a:schemeClr val="accent6">
                    <a:lumMod val="75000"/>
                  </a:schemeClr>
                </a:solidFill>
              </a:rPr>
              <a:t>применяет </a:t>
            </a:r>
            <a:r>
              <a:rPr lang="ru-RU" sz="2800" b="1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ru-RU" sz="2800" b="1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CSS</a:t>
            </a:r>
            <a:r>
              <a:rPr lang="ru-RU" sz="2800" b="1" dirty="0" smtClean="0">
                <a:solidFill>
                  <a:schemeClr val="accent6">
                    <a:lumMod val="75000"/>
                  </a:schemeClr>
                </a:solidFill>
              </a:rPr>
              <a:t>-стили </a:t>
            </a:r>
            <a:r>
              <a:rPr lang="ru-RU" sz="2800" b="1" dirty="0">
                <a:solidFill>
                  <a:schemeClr val="accent6">
                    <a:lumMod val="75000"/>
                  </a:schemeClr>
                </a:solidFill>
              </a:rPr>
              <a:t>к конкретным тегам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1700808"/>
            <a:ext cx="3844583" cy="15841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3645024"/>
            <a:ext cx="3844583" cy="28451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2117470"/>
            <a:ext cx="3168352" cy="22476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Прямоугольник 1"/>
          <p:cNvSpPr/>
          <p:nvPr/>
        </p:nvSpPr>
        <p:spPr>
          <a:xfrm>
            <a:off x="5879976" y="4606096"/>
            <a:ext cx="53285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К </a:t>
            </a:r>
            <a:r>
              <a:rPr lang="ru-RU" sz="2000" dirty="0"/>
              <a:t>одному тегу могут применятся сразу несколько правил, эти правила могут противоречить друг </a:t>
            </a:r>
            <a:r>
              <a:rPr lang="ru-RU" sz="2000" dirty="0" smtClean="0"/>
              <a:t>другу, этот вопрос мы разберём детально вместе с вопросом селекторов.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575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/>
              <a:t>7</a:t>
            </a:r>
            <a:r>
              <a:rPr lang="ru-RU" sz="8000" b="1" dirty="0" smtClean="0"/>
              <a:t>. Текст и шрифт</a:t>
            </a:r>
            <a:endParaRPr lang="ru-RU" sz="8000" b="1" dirty="0"/>
          </a:p>
        </p:txBody>
      </p:sp>
    </p:spTree>
    <p:extLst>
      <p:ext uri="{BB962C8B-B14F-4D97-AF65-F5344CB8AC3E}">
        <p14:creationId xmlns:p14="http://schemas.microsoft.com/office/powerpoint/2010/main" val="148296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designtalk.club/wp-content/uploads/2016/11/typography-1280x80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5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65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136560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1685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Базовая классификация шрифтов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376" y="4797152"/>
            <a:ext cx="11377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Serif</a:t>
            </a:r>
            <a:r>
              <a:rPr lang="en-US" sz="2800" dirty="0" smtClean="0"/>
              <a:t> –</a:t>
            </a:r>
            <a:r>
              <a:rPr lang="ru-RU" sz="2800" dirty="0" smtClean="0"/>
              <a:t> шрифты с засечками (также известны как </a:t>
            </a:r>
            <a:r>
              <a:rPr lang="en-US" sz="2800" dirty="0" smtClean="0"/>
              <a:t>Antiqua</a:t>
            </a:r>
            <a:r>
              <a:rPr lang="ru-RU" sz="2800" dirty="0" smtClean="0"/>
              <a:t>), </a:t>
            </a:r>
            <a:endParaRPr lang="en-US" sz="2800" dirty="0" smtClean="0"/>
          </a:p>
          <a:p>
            <a:pPr algn="ctr"/>
            <a:r>
              <a:rPr lang="en-US" sz="2800" b="1" dirty="0" smtClean="0"/>
              <a:t>Sans </a:t>
            </a:r>
            <a:r>
              <a:rPr lang="en-US" sz="2800" b="1" dirty="0"/>
              <a:t>Serif </a:t>
            </a:r>
            <a:r>
              <a:rPr lang="en-US" sz="2800" dirty="0"/>
              <a:t>– </a:t>
            </a:r>
            <a:r>
              <a:rPr lang="ru-RU" sz="2800" dirty="0"/>
              <a:t>шрифты без </a:t>
            </a:r>
            <a:r>
              <a:rPr lang="ru-RU" sz="2800" dirty="0" smtClean="0"/>
              <a:t>засечек</a:t>
            </a:r>
            <a:r>
              <a:rPr lang="en-US" sz="2800" dirty="0" smtClean="0"/>
              <a:t> (</a:t>
            </a:r>
            <a:r>
              <a:rPr lang="ru-RU" sz="2800" dirty="0" smtClean="0"/>
              <a:t>также известны как </a:t>
            </a:r>
            <a:r>
              <a:rPr lang="en-US" sz="2800" dirty="0" smtClean="0"/>
              <a:t>Grotesque)</a:t>
            </a:r>
            <a:endParaRPr lang="ru-R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466668" y="1998537"/>
            <a:ext cx="339708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SERIF</a:t>
            </a:r>
            <a:endParaRPr lang="uk-UA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55840" y="1998537"/>
            <a:ext cx="7201010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200" dirty="0" smtClean="0">
                <a:latin typeface="Arial" panose="020B0604020202020204" pitchFamily="34" charset="0"/>
                <a:cs typeface="Arial" panose="020B0604020202020204" pitchFamily="34" charset="0"/>
              </a:rPr>
              <a:t>SANS SERIF</a:t>
            </a:r>
            <a:endParaRPr lang="uk-UA" sz="9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280906" y="1844824"/>
            <a:ext cx="14894" cy="18002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19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80576" y="61308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951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/>
              <a:t>О шрифтах, вебе и экранах</a:t>
            </a:r>
            <a:endParaRPr lang="ru-RU" sz="4000" b="1" dirty="0"/>
          </a:p>
        </p:txBody>
      </p:sp>
      <p:pic>
        <p:nvPicPr>
          <p:cNvPr id="6146" name="Picture 2" descr="https://www.originalam.net/img/pages/1200dpi_printing_zoom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56" b="10885"/>
          <a:stretch/>
        </p:blipFill>
        <p:spPr bwMode="auto">
          <a:xfrm>
            <a:off x="1343472" y="1556792"/>
            <a:ext cx="9505056" cy="453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82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80576" y="61308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24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1685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/>
              <a:t>Задание оформления текста средствами </a:t>
            </a:r>
            <a:r>
              <a:rPr lang="en-US" sz="4000" b="1" dirty="0" smtClean="0"/>
              <a:t>CSS</a:t>
            </a:r>
            <a:endParaRPr lang="ru-RU" sz="4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39416" y="4409817"/>
            <a:ext cx="103691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При помощи свойства </a:t>
            </a:r>
            <a:r>
              <a:rPr lang="en-US" sz="2000" b="1" dirty="0" smtClean="0">
                <a:solidFill>
                  <a:srgbClr val="00B050"/>
                </a:solidFill>
              </a:rPr>
              <a:t>font-family</a:t>
            </a:r>
            <a:r>
              <a:rPr lang="en-US" sz="2000" dirty="0" smtClean="0"/>
              <a:t> </a:t>
            </a:r>
            <a:r>
              <a:rPr lang="ru-RU" sz="2000" dirty="0" smtClean="0"/>
              <a:t>мы можем задать используемый шрифт (несколько в качестве резервных). Также есть возможность при помощи свойств</a:t>
            </a:r>
            <a:r>
              <a:rPr lang="en-US" sz="2000" dirty="0" smtClean="0"/>
              <a:t> </a:t>
            </a:r>
            <a:r>
              <a:rPr lang="en-US" sz="2000" b="1" dirty="0" smtClean="0"/>
              <a:t>font-style</a:t>
            </a:r>
            <a:r>
              <a:rPr lang="en-US" sz="2000" dirty="0" smtClean="0"/>
              <a:t>,</a:t>
            </a:r>
            <a:r>
              <a:rPr lang="en-US" sz="2000" b="1" dirty="0" smtClean="0"/>
              <a:t> font-weight</a:t>
            </a:r>
            <a:r>
              <a:rPr lang="en-US" sz="2000" dirty="0" smtClean="0"/>
              <a:t>,</a:t>
            </a:r>
            <a:r>
              <a:rPr lang="en-US" sz="2000" b="1" dirty="0" smtClean="0"/>
              <a:t> font-size</a:t>
            </a:r>
            <a:r>
              <a:rPr lang="en-US" sz="2000" dirty="0" smtClean="0"/>
              <a:t>,</a:t>
            </a:r>
            <a:r>
              <a:rPr lang="en-US" sz="2000" b="1" dirty="0" smtClean="0"/>
              <a:t> line-height </a:t>
            </a:r>
            <a:r>
              <a:rPr lang="ru-RU" sz="2000" dirty="0" smtClean="0"/>
              <a:t>(и других) задать внешний вид шрифта. Либо же можно воспользоваться универсальным свойством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font</a:t>
            </a:r>
            <a:r>
              <a:rPr lang="en-US" sz="2000" dirty="0" smtClean="0"/>
              <a:t>. </a:t>
            </a:r>
            <a:endParaRPr lang="uk-UA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556792"/>
            <a:ext cx="10730491" cy="268893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594928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hlinkClick r:id="rId3"/>
              </a:rPr>
              <a:t>https://</a:t>
            </a:r>
            <a:r>
              <a:rPr lang="ru-RU" sz="3200" b="1" dirty="0" smtClean="0">
                <a:hlinkClick r:id="rId3"/>
              </a:rPr>
              <a:t>webref.ru/css/type/text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57168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36"/>
          <p:cNvSpPr txBox="1">
            <a:spLocks/>
          </p:cNvSpPr>
          <p:nvPr/>
        </p:nvSpPr>
        <p:spPr>
          <a:xfrm>
            <a:off x="11280576" y="61308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25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16858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Google Fonts </a:t>
            </a:r>
            <a:r>
              <a:rPr lang="ru-RU" sz="4000" b="1" dirty="0" smtClean="0"/>
              <a:t>база бесплатных шрифтов</a:t>
            </a:r>
            <a:endParaRPr lang="ru-RU" sz="4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805264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hlinkClick r:id="rId2"/>
              </a:rPr>
              <a:t>https://fonts.google.com/</a:t>
            </a:r>
            <a:endParaRPr lang="ru-RU" sz="40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412776"/>
            <a:ext cx="8208912" cy="405463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882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8</a:t>
            </a:r>
            <a:r>
              <a:rPr lang="en-US" sz="6000" b="1" dirty="0" smtClean="0"/>
              <a:t>. </a:t>
            </a:r>
            <a:r>
              <a:rPr lang="ru-RU" sz="6000" b="1" dirty="0" smtClean="0"/>
              <a:t>Задание размеров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5742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2873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392" y="1842933"/>
            <a:ext cx="6245819" cy="3848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7352085" y="2060848"/>
            <a:ext cx="47205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CSS Box Model </a:t>
            </a:r>
            <a:r>
              <a:rPr lang="en-US" sz="3200" dirty="0" smtClean="0"/>
              <a:t>–</a:t>
            </a:r>
            <a:r>
              <a:rPr lang="ru-RU" sz="3200" dirty="0" smtClean="0"/>
              <a:t> группа стилевых свойств</a:t>
            </a:r>
            <a:r>
              <a:rPr lang="en-US" sz="3200" dirty="0" smtClean="0"/>
              <a:t> </a:t>
            </a:r>
            <a:r>
              <a:rPr lang="ru-RU" sz="3200" dirty="0" smtClean="0"/>
              <a:t>описывающих размерности элемента</a:t>
            </a:r>
            <a:endParaRPr lang="ru-RU" sz="32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283685" y="4354525"/>
            <a:ext cx="3760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hlinkClick r:id="rId3"/>
              </a:rPr>
              <a:t>https://webref.ru/css/type/size</a:t>
            </a:r>
            <a:endParaRPr lang="uk-UA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" y="4046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CSS Box Model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283685" y="4706918"/>
            <a:ext cx="4140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hlinkClick r:id="rId4"/>
              </a:rPr>
              <a:t>https://webref.ru/css/type/margin</a:t>
            </a:r>
            <a:endParaRPr lang="uk-UA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283685" y="5106785"/>
            <a:ext cx="4140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hlinkClick r:id="rId5"/>
              </a:rPr>
              <a:t>https://webref.ru/css/type/</a:t>
            </a:r>
            <a:r>
              <a:rPr lang="en-US" b="1" dirty="0">
                <a:hlinkClick r:id="rId5"/>
              </a:rPr>
              <a:t>padding</a:t>
            </a:r>
            <a:endParaRPr lang="uk-UA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7283684" y="5506653"/>
            <a:ext cx="4140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hlinkClick r:id="rId6"/>
              </a:rPr>
              <a:t>https://</a:t>
            </a:r>
            <a:r>
              <a:rPr lang="uk-UA" b="1" dirty="0" smtClean="0">
                <a:hlinkClick r:id="rId6"/>
              </a:rPr>
              <a:t>webref.ru/css/type/</a:t>
            </a:r>
            <a:r>
              <a:rPr lang="en-US" b="1" dirty="0" smtClean="0">
                <a:hlinkClick r:id="rId6"/>
              </a:rPr>
              <a:t>border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139131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28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238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CSS Box Model</a:t>
            </a:r>
          </a:p>
        </p:txBody>
      </p:sp>
      <p:sp>
        <p:nvSpPr>
          <p:cNvPr id="6" name="Левая фигурная скобка 5"/>
          <p:cNvSpPr/>
          <p:nvPr/>
        </p:nvSpPr>
        <p:spPr>
          <a:xfrm>
            <a:off x="2711624" y="1027224"/>
            <a:ext cx="864096" cy="1944216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07368" y="1721271"/>
            <a:ext cx="2307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margin: 10px; </a:t>
            </a:r>
            <a:endParaRPr lang="ru-RU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503712" y="1060016"/>
            <a:ext cx="344754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margin-top: 10px;</a:t>
            </a:r>
          </a:p>
          <a:p>
            <a:r>
              <a:rPr lang="en-US" sz="2800" b="1" dirty="0"/>
              <a:t>margin-right: 10px;</a:t>
            </a:r>
          </a:p>
          <a:p>
            <a:r>
              <a:rPr lang="en-US" sz="2800" b="1" dirty="0"/>
              <a:t>margin-bottom: 10px;</a:t>
            </a:r>
          </a:p>
          <a:p>
            <a:r>
              <a:rPr lang="en-US" sz="2800" b="1" dirty="0"/>
              <a:t>margin-left: 10px;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464152" y="1124744"/>
            <a:ext cx="44644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Отступы</a:t>
            </a:r>
            <a:r>
              <a:rPr lang="en-US" sz="2200" dirty="0"/>
              <a:t> (</a:t>
            </a:r>
            <a:r>
              <a:rPr lang="ru-RU" sz="2200" dirty="0"/>
              <a:t>как </a:t>
            </a:r>
            <a:r>
              <a:rPr lang="en-US" sz="2200" b="1" dirty="0"/>
              <a:t>padding</a:t>
            </a:r>
            <a:r>
              <a:rPr lang="en-US" sz="2200" dirty="0"/>
              <a:t> </a:t>
            </a:r>
            <a:r>
              <a:rPr lang="ru-RU" sz="2200" dirty="0"/>
              <a:t>так и </a:t>
            </a:r>
            <a:r>
              <a:rPr lang="en-US" sz="2200" b="1" dirty="0"/>
              <a:t>margin</a:t>
            </a:r>
            <a:r>
              <a:rPr lang="en-US" sz="2200" dirty="0"/>
              <a:t>)</a:t>
            </a:r>
            <a:r>
              <a:rPr lang="ru-RU" sz="2200" dirty="0"/>
              <a:t> можно задать для каждой стороны в отдельности</a:t>
            </a:r>
            <a:r>
              <a:rPr lang="en-US" sz="2200" dirty="0"/>
              <a:t>. </a:t>
            </a:r>
            <a:r>
              <a:rPr lang="ru-RU" sz="2200" dirty="0"/>
              <a:t>Свойство </a:t>
            </a:r>
            <a:r>
              <a:rPr lang="en-US" sz="2200" b="1" dirty="0"/>
              <a:t>border</a:t>
            </a:r>
            <a:r>
              <a:rPr lang="en-US" sz="2200" dirty="0"/>
              <a:t> </a:t>
            </a:r>
            <a:r>
              <a:rPr lang="ru-RU" sz="2200" dirty="0"/>
              <a:t>также возможно установить для каждой стороны отдельно</a:t>
            </a:r>
            <a:r>
              <a:rPr lang="ru-RU" sz="2200" dirty="0" smtClean="0"/>
              <a:t>.</a:t>
            </a:r>
            <a:r>
              <a:rPr lang="en-US" sz="2200" dirty="0" smtClean="0"/>
              <a:t> </a:t>
            </a:r>
            <a:r>
              <a:rPr lang="ru-RU" sz="2200" dirty="0" smtClean="0"/>
              <a:t>Есть возможность задать сразу четыре значения через пробел (</a:t>
            </a:r>
            <a:r>
              <a:rPr lang="en-US" sz="2200" b="1" dirty="0" smtClean="0"/>
              <a:t>top, right, bottom, left</a:t>
            </a:r>
            <a:r>
              <a:rPr lang="ru-RU" sz="2200" dirty="0" smtClean="0"/>
              <a:t>)</a:t>
            </a:r>
            <a:r>
              <a:rPr lang="en-US" sz="2200" dirty="0" smtClean="0"/>
              <a:t>. </a:t>
            </a:r>
            <a:r>
              <a:rPr lang="ru-RU" sz="2200" dirty="0" smtClean="0"/>
              <a:t>А также для левого и правого отступа </a:t>
            </a:r>
            <a:r>
              <a:rPr lang="en-US" sz="2200" dirty="0" smtClean="0"/>
              <a:t>margin </a:t>
            </a:r>
            <a:r>
              <a:rPr lang="ru-RU" sz="2200" dirty="0" smtClean="0"/>
              <a:t>есть возможность задать автоматических расчёт отступов при помощи значения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</a:rPr>
              <a:t>auto</a:t>
            </a:r>
            <a:r>
              <a:rPr lang="en-US" sz="2200" dirty="0" smtClean="0"/>
              <a:t>.</a:t>
            </a:r>
            <a:endParaRPr lang="ru-RU" sz="2200" dirty="0"/>
          </a:p>
        </p:txBody>
      </p:sp>
      <p:sp>
        <p:nvSpPr>
          <p:cNvPr id="13" name="Левая фигурная скобка 12"/>
          <p:cNvSpPr/>
          <p:nvPr/>
        </p:nvSpPr>
        <p:spPr>
          <a:xfrm>
            <a:off x="3383925" y="3717032"/>
            <a:ext cx="864096" cy="1944216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35360" y="4504474"/>
            <a:ext cx="3082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margin: </a:t>
            </a:r>
            <a:r>
              <a:rPr lang="en-US" b="1" dirty="0" smtClean="0"/>
              <a:t>10px 20px 30px 40px; 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096309" y="3920276"/>
            <a:ext cx="29773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margin-top: 10px;</a:t>
            </a:r>
          </a:p>
          <a:p>
            <a:r>
              <a:rPr lang="en-US" sz="2400" b="1" dirty="0"/>
              <a:t>margin-right: </a:t>
            </a:r>
            <a:r>
              <a:rPr lang="en-US" sz="2400" b="1" dirty="0" smtClean="0"/>
              <a:t>20px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margin-bottom: </a:t>
            </a:r>
            <a:r>
              <a:rPr lang="en-US" sz="2400" b="1" dirty="0" smtClean="0"/>
              <a:t>30px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margin-left: </a:t>
            </a:r>
            <a:r>
              <a:rPr lang="en-US" sz="2400" b="1" dirty="0" smtClean="0"/>
              <a:t>40px</a:t>
            </a:r>
            <a:r>
              <a:rPr lang="en-US" sz="2400" b="1" dirty="0"/>
              <a:t>;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29109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5193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err="1" smtClean="0"/>
              <a:t>Скругление</a:t>
            </a:r>
            <a:r>
              <a:rPr lang="ru-RU" sz="3600" b="1" dirty="0" smtClean="0"/>
              <a:t> углов и тень от блока</a:t>
            </a:r>
            <a:endParaRPr lang="en-US" sz="36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37" y="1370479"/>
            <a:ext cx="3743325" cy="27622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Прямоугольник 5"/>
          <p:cNvSpPr/>
          <p:nvPr/>
        </p:nvSpPr>
        <p:spPr>
          <a:xfrm>
            <a:off x="1230885" y="5405538"/>
            <a:ext cx="3642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hlinkClick r:id="rId3"/>
              </a:rPr>
              <a:t>https://</a:t>
            </a:r>
            <a:r>
              <a:rPr lang="en-US" b="1" dirty="0" smtClean="0">
                <a:hlinkClick r:id="rId3"/>
              </a:rPr>
              <a:t>webref.ru/css/border-radius</a:t>
            </a:r>
            <a:endParaRPr lang="uk-UA" b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230885" y="4790282"/>
            <a:ext cx="3506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hlinkClick r:id="rId4"/>
              </a:rPr>
              <a:t>https://webref.ru/css/box-shadow</a:t>
            </a:r>
            <a:endParaRPr lang="uk-UA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91944" y="1455073"/>
            <a:ext cx="60486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Свойство </a:t>
            </a:r>
            <a:r>
              <a:rPr lang="en-US" sz="2800" b="1" dirty="0" smtClean="0">
                <a:solidFill>
                  <a:srgbClr val="7030A0"/>
                </a:solidFill>
              </a:rPr>
              <a:t>border-radius</a:t>
            </a:r>
            <a:r>
              <a:rPr lang="en-US" sz="2800" dirty="0" smtClean="0"/>
              <a:t> </a:t>
            </a:r>
            <a:r>
              <a:rPr lang="ru-RU" sz="2800" dirty="0" smtClean="0"/>
              <a:t>позволяет задать радиус округления уголков рамки.</a:t>
            </a:r>
            <a:r>
              <a:rPr lang="en-US" sz="2800" dirty="0" smtClean="0"/>
              <a:t> </a:t>
            </a:r>
            <a:r>
              <a:rPr lang="ru-RU" sz="2800" dirty="0" smtClean="0"/>
              <a:t>Свойство </a:t>
            </a:r>
            <a:r>
              <a:rPr lang="en-US" sz="2800" b="1" dirty="0" smtClean="0">
                <a:solidFill>
                  <a:srgbClr val="00B050"/>
                </a:solidFill>
              </a:rPr>
              <a:t>box-shadow</a:t>
            </a:r>
            <a:r>
              <a:rPr lang="en-US" sz="2800" dirty="0" smtClean="0"/>
              <a:t> </a:t>
            </a:r>
            <a:r>
              <a:rPr lang="ru-RU" sz="2800" dirty="0" smtClean="0"/>
              <a:t>позволяет задать отбрасывание тени блоком, набор параметров аналогичен свойству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text-shadow</a:t>
            </a:r>
            <a:r>
              <a:rPr lang="en-US" sz="2800" dirty="0" smtClean="0"/>
              <a:t>.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58613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239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CSS </a:t>
            </a:r>
            <a:r>
              <a:rPr lang="ru-RU" sz="3600" b="1" dirty="0"/>
              <a:t>пиксель</a:t>
            </a:r>
            <a:r>
              <a:rPr lang="ru-RU" sz="3600" b="1" dirty="0">
                <a:solidFill>
                  <a:srgbClr val="FF0000"/>
                </a:solidFill>
              </a:rPr>
              <a:t> ≠ </a:t>
            </a:r>
            <a:r>
              <a:rPr lang="ru-RU" sz="3600" b="1" dirty="0"/>
              <a:t>Физический пиксель </a:t>
            </a:r>
          </a:p>
        </p:txBody>
      </p:sp>
      <p:pic>
        <p:nvPicPr>
          <p:cNvPr id="1026" name="Picture 2" descr="http://www.getgrawlix.com/blog_content/tips-to-optimize-graphics/Using-hardware-pixel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6" y="971612"/>
            <a:ext cx="6931000" cy="34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getgrawlix.com/blog_content/tips-to-optimize-graphics/Using-reference-pixel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77" y="3717032"/>
            <a:ext cx="6281935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16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280576" y="6165305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31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7841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CSS </a:t>
            </a:r>
            <a:r>
              <a:rPr lang="ru-RU" sz="3600" b="1" dirty="0"/>
              <a:t>пиксель</a:t>
            </a:r>
            <a:r>
              <a:rPr lang="ru-RU" sz="3600" b="1" dirty="0">
                <a:solidFill>
                  <a:srgbClr val="FF0000"/>
                </a:solidFill>
              </a:rPr>
              <a:t> ≠ </a:t>
            </a:r>
            <a:r>
              <a:rPr lang="ru-RU" sz="3600" b="1" dirty="0"/>
              <a:t>Физический пиксель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70" y="1459126"/>
            <a:ext cx="6457950" cy="396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20136" y="1966188"/>
            <a:ext cx="40324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CSS </a:t>
            </a:r>
            <a:r>
              <a:rPr lang="ru-RU" sz="2400" b="1" dirty="0"/>
              <a:t>пиксель </a:t>
            </a:r>
            <a:r>
              <a:rPr lang="ru-RU" sz="2400" dirty="0"/>
              <a:t>– размер </a:t>
            </a:r>
            <a:r>
              <a:rPr lang="ru-RU" sz="2400" dirty="0" smtClean="0"/>
              <a:t>точки </a:t>
            </a:r>
            <a:r>
              <a:rPr lang="ru-RU" sz="2400" dirty="0" smtClean="0"/>
              <a:t>соответствующий плотности </a:t>
            </a:r>
            <a:r>
              <a:rPr lang="en-US" sz="2400" b="1" dirty="0" smtClean="0"/>
              <a:t>~ </a:t>
            </a:r>
            <a:r>
              <a:rPr lang="ru-RU" sz="2400" b="1" dirty="0" smtClean="0"/>
              <a:t>1/</a:t>
            </a:r>
            <a:r>
              <a:rPr lang="en-US" sz="2400" b="1" dirty="0" smtClean="0"/>
              <a:t>96 </a:t>
            </a:r>
            <a:r>
              <a:rPr lang="ru-RU" sz="2400" dirty="0" smtClean="0"/>
              <a:t>дюйма. </a:t>
            </a:r>
            <a:r>
              <a:rPr lang="ru-RU" sz="2400" dirty="0"/>
              <a:t>Сколько физических пикселей используется для от рисовки одного </a:t>
            </a:r>
            <a:r>
              <a:rPr lang="en-US" sz="2400" b="1" dirty="0"/>
              <a:t>CSS </a:t>
            </a:r>
            <a:r>
              <a:rPr lang="ru-RU" sz="2400" b="1" dirty="0"/>
              <a:t>пикселя</a:t>
            </a:r>
            <a:r>
              <a:rPr lang="ru-RU" sz="2400" dirty="0"/>
              <a:t> зависит </a:t>
            </a:r>
            <a:r>
              <a:rPr lang="ru-RU" sz="2400" dirty="0" smtClean="0"/>
              <a:t>от физического разрешения </a:t>
            </a:r>
            <a:r>
              <a:rPr lang="ru-RU" sz="2400" dirty="0"/>
              <a:t>конкретного </a:t>
            </a:r>
            <a:r>
              <a:rPr lang="ru-RU" sz="2400" dirty="0" smtClean="0"/>
              <a:t>экрана.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4541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239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CSS </a:t>
            </a:r>
            <a:r>
              <a:rPr lang="ru-RU" sz="3600" b="1" dirty="0"/>
              <a:t>пиксель</a:t>
            </a:r>
            <a:r>
              <a:rPr lang="ru-RU" sz="3600" b="1" dirty="0">
                <a:solidFill>
                  <a:srgbClr val="FF0000"/>
                </a:solidFill>
              </a:rPr>
              <a:t> ≠ </a:t>
            </a:r>
            <a:r>
              <a:rPr lang="ru-RU" sz="3600" b="1" dirty="0"/>
              <a:t>Физический пиксель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0136" y="1916832"/>
            <a:ext cx="40324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CSS </a:t>
            </a:r>
            <a:r>
              <a:rPr lang="ru-RU" sz="2400" b="1" dirty="0"/>
              <a:t>пиксель </a:t>
            </a:r>
            <a:r>
              <a:rPr lang="ru-RU" sz="2400" dirty="0"/>
              <a:t>– размер </a:t>
            </a:r>
            <a:r>
              <a:rPr lang="ru-RU" sz="2400" dirty="0" smtClean="0"/>
              <a:t>точки условно соответствующий </a:t>
            </a:r>
            <a:r>
              <a:rPr lang="en-US" sz="2400" b="1" dirty="0"/>
              <a:t>~ </a:t>
            </a:r>
            <a:r>
              <a:rPr lang="ru-RU" sz="2400" b="1" dirty="0" smtClean="0"/>
              <a:t>1/</a:t>
            </a:r>
            <a:r>
              <a:rPr lang="en-US" sz="2400" b="1" dirty="0" smtClean="0"/>
              <a:t>96 </a:t>
            </a:r>
            <a:r>
              <a:rPr lang="ru-RU" sz="2400" dirty="0" smtClean="0"/>
              <a:t>дюйма. </a:t>
            </a:r>
            <a:r>
              <a:rPr lang="ru-RU" sz="2400" dirty="0"/>
              <a:t>Сколько физических пикселей используется для от рисовки одного </a:t>
            </a:r>
            <a:r>
              <a:rPr lang="en-US" sz="2400" b="1" dirty="0"/>
              <a:t>CSS </a:t>
            </a:r>
            <a:r>
              <a:rPr lang="ru-RU" sz="2400" b="1" dirty="0"/>
              <a:t>пикселя</a:t>
            </a:r>
            <a:r>
              <a:rPr lang="ru-RU" sz="2400" dirty="0"/>
              <a:t> зависит </a:t>
            </a:r>
            <a:r>
              <a:rPr lang="ru-RU" sz="2400" dirty="0" smtClean="0"/>
              <a:t>от физического разрешения </a:t>
            </a:r>
            <a:r>
              <a:rPr lang="ru-RU" sz="2400" dirty="0"/>
              <a:t>конкретного </a:t>
            </a:r>
            <a:r>
              <a:rPr lang="ru-RU" sz="2400" dirty="0" smtClean="0"/>
              <a:t>экрана.</a:t>
            </a:r>
            <a:endParaRPr lang="ru-RU" sz="2400" dirty="0"/>
          </a:p>
        </p:txBody>
      </p:sp>
      <p:pic>
        <p:nvPicPr>
          <p:cNvPr id="2" name="Picture 2" descr="https://hsto.org/storage2/613/876/096/61387609681df49112c1ed2d5194443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641113"/>
            <a:ext cx="6532978" cy="37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60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/>
              <a:t>9</a:t>
            </a:r>
            <a:r>
              <a:rPr lang="en-US" sz="7200" b="1" dirty="0" smtClean="0"/>
              <a:t>. </a:t>
            </a:r>
            <a:r>
              <a:rPr lang="ru-RU" sz="7200" b="1" dirty="0" err="1" smtClean="0"/>
              <a:t>Валидация</a:t>
            </a:r>
            <a:r>
              <a:rPr lang="en-US" sz="7200" b="1" dirty="0" smtClean="0"/>
              <a:t> CSS</a:t>
            </a:r>
            <a:endParaRPr lang="uk-UA" sz="2000" b="1" dirty="0"/>
          </a:p>
        </p:txBody>
      </p:sp>
    </p:spTree>
    <p:extLst>
      <p:ext uri="{BB962C8B-B14F-4D97-AF65-F5344CB8AC3E}">
        <p14:creationId xmlns:p14="http://schemas.microsoft.com/office/powerpoint/2010/main" val="245777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1544" y="188640"/>
            <a:ext cx="8280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Проверка страницы </a:t>
            </a:r>
            <a:r>
              <a:rPr lang="ru-RU" sz="3200" b="1"/>
              <a:t>на соответствие </a:t>
            </a:r>
            <a:r>
              <a:rPr lang="ru-RU" sz="3200" b="1" dirty="0"/>
              <a:t>стандартам </a:t>
            </a:r>
            <a:r>
              <a:rPr lang="en-US" sz="3200" b="1" dirty="0"/>
              <a:t>HTML&amp;CSS</a:t>
            </a:r>
            <a:endParaRPr lang="uk-UA" sz="3200" dirty="0"/>
          </a:p>
        </p:txBody>
      </p:sp>
      <p:sp>
        <p:nvSpPr>
          <p:cNvPr id="14" name="Номер слайда 36"/>
          <p:cNvSpPr txBox="1">
            <a:spLocks/>
          </p:cNvSpPr>
          <p:nvPr/>
        </p:nvSpPr>
        <p:spPr>
          <a:xfrm>
            <a:off x="11208568" y="6088357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34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63752" y="6021288"/>
            <a:ext cx="4810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hlinkClick r:id="rId2"/>
              </a:rPr>
              <a:t>https</a:t>
            </a:r>
            <a:r>
              <a:rPr lang="en-US" sz="2400" b="1" dirty="0">
                <a:hlinkClick r:id="rId2"/>
              </a:rPr>
              <a:t>://jigsaw.w3.org/css-validator/</a:t>
            </a:r>
            <a:endParaRPr lang="en-US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344" y="1456556"/>
            <a:ext cx="7727320" cy="434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7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600" b="1" dirty="0" smtClean="0"/>
              <a:t>Будет полезным</a:t>
            </a:r>
            <a:endParaRPr lang="uk-UA" sz="6600" b="1" dirty="0"/>
          </a:p>
        </p:txBody>
      </p:sp>
    </p:spTree>
    <p:extLst>
      <p:ext uri="{BB962C8B-B14F-4D97-AF65-F5344CB8AC3E}">
        <p14:creationId xmlns:p14="http://schemas.microsoft.com/office/powerpoint/2010/main" val="315020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280576" y="6172760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914147"/>
            <a:ext cx="1219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600" b="1" dirty="0">
                <a:hlinkClick r:id="rId2"/>
              </a:rPr>
              <a:t>https://webref.ru/recipe</a:t>
            </a:r>
            <a:endParaRPr lang="en-US" sz="3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33439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/>
              <a:t>«</a:t>
            </a:r>
            <a:r>
              <a:rPr lang="en-US" sz="4400" b="1" dirty="0"/>
              <a:t>CSS </a:t>
            </a:r>
            <a:r>
              <a:rPr lang="ru-RU" sz="4400" b="1" dirty="0"/>
              <a:t>рецепты»</a:t>
            </a:r>
            <a:endParaRPr lang="en-US" sz="4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1332706"/>
            <a:ext cx="8153400" cy="44005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630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6"/>
          <p:cNvSpPr txBox="1">
            <a:spLocks/>
          </p:cNvSpPr>
          <p:nvPr/>
        </p:nvSpPr>
        <p:spPr>
          <a:xfrm>
            <a:off x="11136560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6006479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hlinkClick r:id="rId2"/>
              </a:rPr>
              <a:t>https://</a:t>
            </a:r>
            <a:r>
              <a:rPr lang="en-US" sz="3200" b="1" dirty="0" smtClean="0">
                <a:hlinkClick r:id="rId2"/>
              </a:rPr>
              <a:t>www.youtube.com/watch?v=LDJMfzTlkSI</a:t>
            </a:r>
            <a:endParaRPr lang="uk-UA" sz="3200" b="1" dirty="0"/>
          </a:p>
        </p:txBody>
      </p:sp>
      <p:pic>
        <p:nvPicPr>
          <p:cNvPr id="1026" name="Picture 2" descr="https://developers.google.com/web/tools/chrome-devtools/images/panels/element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7" t="5439" r="7863" b="12983"/>
          <a:stretch/>
        </p:blipFill>
        <p:spPr bwMode="auto">
          <a:xfrm>
            <a:off x="3287687" y="1484784"/>
            <a:ext cx="5904657" cy="4320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332128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Познавательное видео о работе с </a:t>
            </a:r>
            <a:r>
              <a:rPr lang="ru-RU" sz="2800" b="1" dirty="0" smtClean="0"/>
              <a:t>инструментами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ru-RU" sz="2800" b="1" dirty="0" smtClean="0"/>
              <a:t> </a:t>
            </a:r>
            <a:r>
              <a:rPr lang="ru-RU" sz="2800" b="1" dirty="0" smtClean="0"/>
              <a:t>разработчика в </a:t>
            </a:r>
            <a:r>
              <a:rPr lang="en-US" sz="2800" b="1" dirty="0" smtClean="0"/>
              <a:t>Google Chrome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148376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4531</TotalTime>
  <Words>964</Words>
  <Application>Microsoft Office PowerPoint</Application>
  <PresentationFormat>Широкоэкранный</PresentationFormat>
  <Paragraphs>133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Courier New</vt:lpstr>
      <vt:lpstr>Segoe UI Semibold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Вступление</dc:title>
  <dc:creator>user</dc:creator>
  <cp:lastModifiedBy>Anatoliy Kigel</cp:lastModifiedBy>
  <cp:revision>642</cp:revision>
  <dcterms:created xsi:type="dcterms:W3CDTF">2014-11-20T09:08:59Z</dcterms:created>
  <dcterms:modified xsi:type="dcterms:W3CDTF">2020-11-16T08:44:25Z</dcterms:modified>
</cp:coreProperties>
</file>